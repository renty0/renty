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70" r:id="rId3"/>
    <p:sldId id="257" r:id="rId4"/>
    <p:sldId id="428" r:id="rId5"/>
    <p:sldId id="259" r:id="rId6"/>
    <p:sldId id="430" r:id="rId7"/>
    <p:sldId id="366" r:id="rId8"/>
    <p:sldId id="431" r:id="rId9"/>
    <p:sldId id="271" r:id="rId10"/>
    <p:sldId id="506" r:id="rId11"/>
    <p:sldId id="272" r:id="rId12"/>
    <p:sldId id="495" r:id="rId13"/>
    <p:sldId id="262" r:id="rId14"/>
    <p:sldId id="496" r:id="rId15"/>
    <p:sldId id="497" r:id="rId16"/>
    <p:sldId id="267" r:id="rId17"/>
    <p:sldId id="498" r:id="rId18"/>
    <p:sldId id="273" r:id="rId19"/>
    <p:sldId id="499" r:id="rId20"/>
    <p:sldId id="265" r:id="rId21"/>
    <p:sldId id="500" r:id="rId22"/>
    <p:sldId id="501" r:id="rId23"/>
    <p:sldId id="268" r:id="rId24"/>
    <p:sldId id="502" r:id="rId25"/>
    <p:sldId id="269" r:id="rId26"/>
    <p:sldId id="503" r:id="rId27"/>
    <p:sldId id="274" r:id="rId28"/>
    <p:sldId id="504" r:id="rId29"/>
    <p:sldId id="275" r:id="rId30"/>
    <p:sldId id="505" r:id="rId31"/>
    <p:sldId id="276" r:id="rId32"/>
    <p:sldId id="578" r:id="rId33"/>
    <p:sldId id="277" r:id="rId34"/>
    <p:sldId id="579" r:id="rId35"/>
    <p:sldId id="278" r:id="rId36"/>
    <p:sldId id="580" r:id="rId37"/>
    <p:sldId id="279" r:id="rId38"/>
    <p:sldId id="581" r:id="rId39"/>
    <p:sldId id="280" r:id="rId40"/>
    <p:sldId id="583" r:id="rId41"/>
    <p:sldId id="282" r:id="rId42"/>
    <p:sldId id="584" r:id="rId43"/>
    <p:sldId id="283" r:id="rId44"/>
    <p:sldId id="585" r:id="rId45"/>
    <p:sldId id="284" r:id="rId46"/>
    <p:sldId id="586" r:id="rId47"/>
    <p:sldId id="285" r:id="rId48"/>
    <p:sldId id="587" r:id="rId49"/>
    <p:sldId id="287" r:id="rId50"/>
    <p:sldId id="588" r:id="rId51"/>
    <p:sldId id="288" r:id="rId52"/>
    <p:sldId id="258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B446"/>
    <a:srgbClr val="00BEAA"/>
    <a:srgbClr val="8CF2F8"/>
    <a:srgbClr val="DCEEF5"/>
    <a:srgbClr val="DFFFFB"/>
    <a:srgbClr val="E4FFFE"/>
    <a:srgbClr val="066065"/>
    <a:srgbClr val="0A959E"/>
    <a:srgbClr val="007C6F"/>
    <a:srgbClr val="0E28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notesMaster" Target="notesMasters/notesMaster1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B1D179-D23D-41D4-AEEF-E4B9FEB06903}" type="doc">
      <dgm:prSet loTypeId="process" loCatId="process" qsTypeId="urn:microsoft.com/office/officeart/2005/8/quickstyle/simple1" qsCatId="simple" csTypeId="urn:microsoft.com/office/officeart/2005/8/colors/accent1_2" csCatId="accent1" phldr="0"/>
      <dgm:spPr/>
    </dgm:pt>
    <dgm:pt modelId="{3F25DA44-7F3E-4C17-A40B-7F663FDBEA65}">
      <dgm:prSet phldrT="[Text]" phldr="1"/>
      <dgm:spPr/>
      <dgm:t>
        <a:bodyPr/>
        <a:p>
          <a:endParaRPr lang="en-US"/>
        </a:p>
      </dgm:t>
    </dgm:pt>
    <dgm:pt modelId="{EE9066D1-3403-4469-8E8C-0D40A82430F2}" cxnId="{CA948E77-4B5D-4D99-BF16-367C2FDF94A0}" type="parTrans">
      <dgm:prSet/>
      <dgm:spPr/>
    </dgm:pt>
    <dgm:pt modelId="{8EC5AF5E-9C9F-410A-A755-A3EA5186F948}" cxnId="{CA948E77-4B5D-4D99-BF16-367C2FDF94A0}" type="sibTrans">
      <dgm:prSet/>
      <dgm:spPr/>
      <dgm:t>
        <a:bodyPr/>
        <a:p>
          <a:endParaRPr lang="en-US"/>
        </a:p>
      </dgm:t>
    </dgm:pt>
    <dgm:pt modelId="{2E2F4D3A-969C-4DB2-9FA9-5C4A40369351}">
      <dgm:prSet phldrT="[Text]" phldr="1"/>
      <dgm:spPr/>
      <dgm:t>
        <a:bodyPr/>
        <a:p>
          <a:endParaRPr lang="en-US"/>
        </a:p>
      </dgm:t>
    </dgm:pt>
    <dgm:pt modelId="{1E934BFE-4D40-486C-8784-F698A10C4CF5}" cxnId="{5E8C4AB4-55A3-4D27-BF1E-C54AEF0A7A62}" type="parTrans">
      <dgm:prSet/>
      <dgm:spPr/>
    </dgm:pt>
    <dgm:pt modelId="{EC1AFF77-9232-4EEB-95CB-85CEAB3B1FC0}" cxnId="{5E8C4AB4-55A3-4D27-BF1E-C54AEF0A7A62}" type="sibTrans">
      <dgm:prSet/>
      <dgm:spPr/>
      <dgm:t>
        <a:bodyPr/>
        <a:p>
          <a:endParaRPr lang="en-US"/>
        </a:p>
      </dgm:t>
    </dgm:pt>
    <dgm:pt modelId="{37B86CFA-59B5-46FA-8A6B-9FB187CE14DF}">
      <dgm:prSet phldrT="[Text]" phldr="1"/>
      <dgm:spPr/>
      <dgm:t>
        <a:bodyPr/>
        <a:p>
          <a:endParaRPr lang="en-US"/>
        </a:p>
      </dgm:t>
    </dgm:pt>
    <dgm:pt modelId="{9DABF4F3-A9E6-40B1-A863-AC9409CC14BB}" cxnId="{AD0DA624-3D63-4022-9F4C-8B59A38D5474}" type="parTrans">
      <dgm:prSet/>
      <dgm:spPr/>
    </dgm:pt>
    <dgm:pt modelId="{18EFF3C3-47F9-402B-A3F3-E9310EA281B4}" cxnId="{AD0DA624-3D63-4022-9F4C-8B59A38D5474}" type="sibTrans">
      <dgm:prSet/>
      <dgm:spPr/>
    </dgm:pt>
    <dgm:pt modelId="{BF708676-7EFC-4C81-9D3A-3E677EAC1C7B}" type="pres">
      <dgm:prSet presAssocID="{8EB1D179-D23D-41D4-AEEF-E4B9FEB06903}" presName="Name0" presStyleCnt="0">
        <dgm:presLayoutVars>
          <dgm:dir/>
          <dgm:resizeHandles val="exact"/>
        </dgm:presLayoutVars>
      </dgm:prSet>
      <dgm:spPr/>
    </dgm:pt>
    <dgm:pt modelId="{111DEAC9-5D4C-4A6A-A44E-082A26F60596}" type="pres">
      <dgm:prSet presAssocID="{3F25DA44-7F3E-4C17-A40B-7F663FDBEA65}" presName="node" presStyleLbl="node1" presStyleIdx="0" presStyleCnt="3">
        <dgm:presLayoutVars>
          <dgm:bulletEnabled val="1"/>
        </dgm:presLayoutVars>
      </dgm:prSet>
      <dgm:spPr/>
    </dgm:pt>
    <dgm:pt modelId="{8A5CF0CE-3323-464D-9C63-05C1BDB053F5}" type="pres">
      <dgm:prSet presAssocID="{8EC5AF5E-9C9F-410A-A755-A3EA5186F948}" presName="sibTrans" presStyleLbl="sibTrans2D1" presStyleIdx="0" presStyleCnt="2"/>
      <dgm:spPr/>
    </dgm:pt>
    <dgm:pt modelId="{5FA465F6-7607-499F-BFB2-52F4E071FB67}" type="pres">
      <dgm:prSet presAssocID="{8EC5AF5E-9C9F-410A-A755-A3EA5186F948}" presName="connectorText" presStyleLbl="sibTrans2D1" presStyleIdx="0" presStyleCnt="2"/>
      <dgm:spPr/>
    </dgm:pt>
    <dgm:pt modelId="{552FB8E7-A5FB-4CC3-94C3-CE0BDF19F9F1}" type="pres">
      <dgm:prSet presAssocID="{2E2F4D3A-969C-4DB2-9FA9-5C4A40369351}" presName="node" presStyleLbl="node1" presStyleIdx="1" presStyleCnt="3">
        <dgm:presLayoutVars>
          <dgm:bulletEnabled val="1"/>
        </dgm:presLayoutVars>
      </dgm:prSet>
      <dgm:spPr/>
    </dgm:pt>
    <dgm:pt modelId="{353C3794-50AA-4D44-83C9-CE28317C3317}" type="pres">
      <dgm:prSet presAssocID="{EC1AFF77-9232-4EEB-95CB-85CEAB3B1FC0}" presName="sibTrans" presStyleLbl="sibTrans2D1" presStyleIdx="1" presStyleCnt="2"/>
      <dgm:spPr/>
    </dgm:pt>
    <dgm:pt modelId="{5AFF040D-0639-4120-9E39-DA822CF9F321}" type="pres">
      <dgm:prSet presAssocID="{EC1AFF77-9232-4EEB-95CB-85CEAB3B1FC0}" presName="connectorText" presStyleLbl="sibTrans2D1" presStyleIdx="1" presStyleCnt="2"/>
      <dgm:spPr/>
    </dgm:pt>
    <dgm:pt modelId="{A1E15D63-E1FF-4A28-A04F-A2B65927BC31}" type="pres">
      <dgm:prSet presAssocID="{37B86CFA-59B5-46FA-8A6B-9FB187CE14DF}" presName="node" presStyleLbl="node1" presStyleIdx="2" presStyleCnt="3">
        <dgm:presLayoutVars>
          <dgm:bulletEnabled val="1"/>
        </dgm:presLayoutVars>
      </dgm:prSet>
      <dgm:spPr/>
    </dgm:pt>
  </dgm:ptLst>
  <dgm:cxnLst>
    <dgm:cxn modelId="{E61D5D68-F4DB-44C6-ACA4-4025A1CA4A98}" type="presOf" srcId="{8EC5AF5E-9C9F-410A-A755-A3EA5186F948}" destId="{5FA465F6-7607-499F-BFB2-52F4E071FB67}" srcOrd="1" destOrd="0" presId="urn:microsoft.com/office/officeart/2005/8/layout/process1"/>
    <dgm:cxn modelId="{0A4F3707-1007-48CB-BAF5-80D815A5073F}" type="presOf" srcId="{2E2F4D3A-969C-4DB2-9FA9-5C4A40369351}" destId="{552FB8E7-A5FB-4CC3-94C3-CE0BDF19F9F1}" srcOrd="0" destOrd="0" presId="urn:microsoft.com/office/officeart/2005/8/layout/process1"/>
    <dgm:cxn modelId="{152E26C2-EF7A-4D55-A229-7F55A21CD585}" type="presOf" srcId="{37B86CFA-59B5-46FA-8A6B-9FB187CE14DF}" destId="{A1E15D63-E1FF-4A28-A04F-A2B65927BC31}" srcOrd="0" destOrd="0" presId="urn:microsoft.com/office/officeart/2005/8/layout/process1"/>
    <dgm:cxn modelId="{AD0DA624-3D63-4022-9F4C-8B59A38D5474}" srcId="{8EB1D179-D23D-41D4-AEEF-E4B9FEB06903}" destId="{37B86CFA-59B5-46FA-8A6B-9FB187CE14DF}" srcOrd="2" destOrd="0" parTransId="{9DABF4F3-A9E6-40B1-A863-AC9409CC14BB}" sibTransId="{18EFF3C3-47F9-402B-A3F3-E9310EA281B4}"/>
    <dgm:cxn modelId="{06DFDAA1-0B13-46B5-B61E-D061A4332905}" type="presOf" srcId="{EC1AFF77-9232-4EEB-95CB-85CEAB3B1FC0}" destId="{5AFF040D-0639-4120-9E39-DA822CF9F321}" srcOrd="1" destOrd="0" presId="urn:microsoft.com/office/officeart/2005/8/layout/process1"/>
    <dgm:cxn modelId="{5E8C4AB4-55A3-4D27-BF1E-C54AEF0A7A62}" srcId="{8EB1D179-D23D-41D4-AEEF-E4B9FEB06903}" destId="{2E2F4D3A-969C-4DB2-9FA9-5C4A40369351}" srcOrd="1" destOrd="0" parTransId="{1E934BFE-4D40-486C-8784-F698A10C4CF5}" sibTransId="{EC1AFF77-9232-4EEB-95CB-85CEAB3B1FC0}"/>
    <dgm:cxn modelId="{B39E8962-56A4-4C10-A865-90CE2F51B945}" type="presOf" srcId="{8EB1D179-D23D-41D4-AEEF-E4B9FEB06903}" destId="{BF708676-7EFC-4C81-9D3A-3E677EAC1C7B}" srcOrd="0" destOrd="0" presId="urn:microsoft.com/office/officeart/2005/8/layout/process1"/>
    <dgm:cxn modelId="{CA948E77-4B5D-4D99-BF16-367C2FDF94A0}" srcId="{8EB1D179-D23D-41D4-AEEF-E4B9FEB06903}" destId="{3F25DA44-7F3E-4C17-A40B-7F663FDBEA65}" srcOrd="0" destOrd="0" parTransId="{EE9066D1-3403-4469-8E8C-0D40A82430F2}" sibTransId="{8EC5AF5E-9C9F-410A-A755-A3EA5186F948}"/>
    <dgm:cxn modelId="{64F80407-13B5-4E53-A2C8-3BCBAFD880C2}" type="presOf" srcId="{3F25DA44-7F3E-4C17-A40B-7F663FDBEA65}" destId="{111DEAC9-5D4C-4A6A-A44E-082A26F60596}" srcOrd="0" destOrd="0" presId="urn:microsoft.com/office/officeart/2005/8/layout/process1"/>
    <dgm:cxn modelId="{B01352F1-FC8B-4FD0-B543-E87CFA218EEE}" type="presOf" srcId="{EC1AFF77-9232-4EEB-95CB-85CEAB3B1FC0}" destId="{353C3794-50AA-4D44-83C9-CE28317C3317}" srcOrd="0" destOrd="0" presId="urn:microsoft.com/office/officeart/2005/8/layout/process1"/>
    <dgm:cxn modelId="{82333956-A22E-4CC0-B2F5-4654F418FB47}" type="presOf" srcId="{8EC5AF5E-9C9F-410A-A755-A3EA5186F948}" destId="{8A5CF0CE-3323-464D-9C63-05C1BDB053F5}" srcOrd="0" destOrd="0" presId="urn:microsoft.com/office/officeart/2005/8/layout/process1"/>
    <dgm:cxn modelId="{FA455C04-71BB-4308-9760-11708F05A2BD}" type="presParOf" srcId="{BF708676-7EFC-4C81-9D3A-3E677EAC1C7B}" destId="{111DEAC9-5D4C-4A6A-A44E-082A26F60596}" srcOrd="0" destOrd="0" presId="urn:microsoft.com/office/officeart/2005/8/layout/process1"/>
    <dgm:cxn modelId="{4A89318F-33B6-4719-A033-533F2C9A3A04}" type="presParOf" srcId="{BF708676-7EFC-4C81-9D3A-3E677EAC1C7B}" destId="{8A5CF0CE-3323-464D-9C63-05C1BDB053F5}" srcOrd="1" destOrd="0" presId="urn:microsoft.com/office/officeart/2005/8/layout/process1"/>
    <dgm:cxn modelId="{FAF3299C-C88F-4967-BCA3-79C9DC34EFE4}" type="presParOf" srcId="{8A5CF0CE-3323-464D-9C63-05C1BDB053F5}" destId="{5FA465F6-7607-499F-BFB2-52F4E071FB67}" srcOrd="0" destOrd="0" presId="urn:microsoft.com/office/officeart/2005/8/layout/process1"/>
    <dgm:cxn modelId="{4E1F1ABA-7593-440E-8EFE-4514EEF53EA8}" type="presParOf" srcId="{BF708676-7EFC-4C81-9D3A-3E677EAC1C7B}" destId="{552FB8E7-A5FB-4CC3-94C3-CE0BDF19F9F1}" srcOrd="2" destOrd="0" presId="urn:microsoft.com/office/officeart/2005/8/layout/process1"/>
    <dgm:cxn modelId="{2C8E476F-E3AE-4AA7-B262-BBAA93538654}" type="presParOf" srcId="{BF708676-7EFC-4C81-9D3A-3E677EAC1C7B}" destId="{353C3794-50AA-4D44-83C9-CE28317C3317}" srcOrd="3" destOrd="0" presId="urn:microsoft.com/office/officeart/2005/8/layout/process1"/>
    <dgm:cxn modelId="{BBD61A5F-1FB4-48D8-8B57-2B67CF078FBD}" type="presParOf" srcId="{353C3794-50AA-4D44-83C9-CE28317C3317}" destId="{5AFF040D-0639-4120-9E39-DA822CF9F321}" srcOrd="0" destOrd="0" presId="urn:microsoft.com/office/officeart/2005/8/layout/process1"/>
    <dgm:cxn modelId="{80F8F89A-5168-46D5-AF22-F287944D5CAF}" type="presParOf" srcId="{BF708676-7EFC-4C81-9D3A-3E677EAC1C7B}" destId="{A1E15D63-E1FF-4A28-A04F-A2B65927BC31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139F80-A41F-4296-BEDA-4E4BEC89A86F}" type="doc">
      <dgm:prSet loTypeId="cycle" loCatId="cycle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en-US"/>
        </a:p>
      </dgm:t>
    </dgm:pt>
    <dgm:pt modelId="{ED27F895-F932-4520-A6E7-20717B1B6ABA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Step 1: Owner </a:t>
          </a:r>
          <a:r>
            <a:rPr lang="en-US" sz="1800" b="1" i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/>
          </a:r>
          <a:endParaRPr lang="en-US" sz="1800" b="1" i="1" u="sng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/>
            <a:t>— Lists item, requests expert check</a:t>
          </a:r>
          <a:r>
            <a:rPr lang="en-US" sz="1600"/>
            <a:t/>
          </a:r>
          <a:endParaRPr lang="en-US" sz="1600"/>
        </a:p>
      </dgm:t>
    </dgm:pt>
    <dgm:pt modelId="{E4F3F18A-396C-4AEE-B550-7690C2F59830}" cxnId="{06D1E1D2-6EA6-4EFA-8234-E22DD6CCA2B3}" type="parTrans">
      <dgm:prSet/>
      <dgm:spPr/>
      <dgm:t>
        <a:bodyPr/>
        <a:p>
          <a:endParaRPr lang="en-US"/>
        </a:p>
      </dgm:t>
    </dgm:pt>
    <dgm:pt modelId="{7197E9C7-2BFC-4382-A4C1-AF8E70D3407A}" cxnId="{06D1E1D2-6EA6-4EFA-8234-E22DD6CCA2B3}" type="sibTrans">
      <dgm:prSet/>
      <dgm:spPr/>
      <dgm:t>
        <a:bodyPr/>
        <a:p>
          <a:endParaRPr lang="en-US"/>
        </a:p>
      </dgm:t>
    </dgm:pt>
    <dgm:pt modelId="{FAC4F552-553A-4AE6-BC40-237F3697F56A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Step 2: Renty Hub </a:t>
          </a:r>
          <a:endParaRPr lang="en-US" sz="1800" b="1" i="1" u="sng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/>
            <a:t>— Owner brings item to nearest hub</a:t>
          </a:r>
          <a:endParaRPr lang="en-US" sz="1600"/>
        </a:p>
      </dgm:t>
    </dgm:pt>
    <dgm:pt modelId="{7FD9B64E-5280-4B70-903C-6F2BE28A6CE5}" cxnId="{DC59903A-4004-4124-BF05-266470FBBFB7}" type="parTrans">
      <dgm:prSet/>
      <dgm:spPr/>
      <dgm:t>
        <a:bodyPr/>
        <a:p>
          <a:endParaRPr lang="en-US"/>
        </a:p>
      </dgm:t>
    </dgm:pt>
    <dgm:pt modelId="{C214425F-F630-4C52-8627-F2DE8D0D90BA}" cxnId="{DC59903A-4004-4124-BF05-266470FBBFB7}" type="sibTrans">
      <dgm:prSet/>
      <dgm:spPr/>
      <dgm:t>
        <a:bodyPr/>
        <a:p>
          <a:endParaRPr lang="en-US"/>
        </a:p>
      </dgm:t>
    </dgm:pt>
    <dgm:pt modelId="{65F0DA01-8262-450D-BD62-8690C98FDAD2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Step 3: Expert Inspects</a:t>
          </a:r>
          <a:r>
            <a:rPr lang="en-US" sz="1600"/>
            <a:t> </a:t>
          </a:r>
          <a:endParaRPr lang="en-US" sz="1600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/>
            <a:t>— Condition report: photos, checklist, rating</a:t>
          </a:r>
          <a:endParaRPr lang="en-US" sz="1600"/>
        </a:p>
      </dgm:t>
    </dgm:pt>
    <dgm:pt modelId="{45A96CE7-8DBE-4F8A-87D0-854153A0DCCB}" cxnId="{D8D87611-8B8D-482D-9CAF-DDDDDB7C7051}" type="parTrans">
      <dgm:prSet/>
      <dgm:spPr/>
      <dgm:t>
        <a:bodyPr/>
        <a:p>
          <a:endParaRPr lang="en-US"/>
        </a:p>
      </dgm:t>
    </dgm:pt>
    <dgm:pt modelId="{E3AA9C70-C00F-41C3-AC24-14264B3DF079}" cxnId="{D8D87611-8B8D-482D-9CAF-DDDDDB7C7051}" type="sibTrans">
      <dgm:prSet/>
      <dgm:spPr/>
      <dgm:t>
        <a:bodyPr/>
        <a:p>
          <a:endParaRPr lang="en-US"/>
        </a:p>
      </dgm:t>
    </dgm:pt>
    <dgm:pt modelId="{944AD0D2-6BD8-4775-9B4A-3461CC8DB612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Step 4: Approved</a:t>
          </a:r>
          <a:r>
            <a:rPr lang="en-US" sz="1900"/>
            <a:t/>
          </a:r>
          <a:endParaRPr lang="en-US" sz="1900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/>
            <a:t>— Item listed as Expert Verified</a:t>
          </a:r>
          <a:r>
            <a:rPr lang="en-US" sz="1600"/>
            <a:t/>
          </a:r>
          <a:endParaRPr lang="en-US" sz="1600"/>
        </a:p>
      </dgm:t>
    </dgm:pt>
    <dgm:pt modelId="{B2A879E3-C78E-4E3B-8F77-03E9FE070EDF}" cxnId="{10637414-6C93-4080-8F0D-621DCECA206F}" type="parTrans">
      <dgm:prSet/>
      <dgm:spPr/>
      <dgm:t>
        <a:bodyPr/>
        <a:p>
          <a:endParaRPr lang="en-US"/>
        </a:p>
      </dgm:t>
    </dgm:pt>
    <dgm:pt modelId="{8D86A813-F5F9-4521-8CB4-55B30CE68982}" cxnId="{10637414-6C93-4080-8F0D-621DCECA206F}" type="sibTrans">
      <dgm:prSet/>
      <dgm:spPr/>
      <dgm:t>
        <a:bodyPr/>
        <a:p>
          <a:endParaRPr lang="en-US"/>
        </a:p>
      </dgm:t>
    </dgm:pt>
    <dgm:pt modelId="{F31169B2-585C-4BD6-AAB7-1E90D256C935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Step 5: Post-Rental</a:t>
          </a:r>
          <a:r>
            <a:rPr lang="en-US" sz="1600"/>
            <a:t> </a:t>
          </a:r>
          <a:endParaRPr lang="en-US" sz="1600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/>
            <a:t>— Same expert checks item on return</a:t>
          </a:r>
          <a:endParaRPr lang="en-US" sz="1600"/>
        </a:p>
      </dgm:t>
    </dgm:pt>
    <dgm:pt modelId="{EE61BEF3-F390-4F05-94B5-481342196429}" cxnId="{11EC26F3-EE36-407F-ADD9-5102771A415F}" type="parTrans">
      <dgm:prSet/>
      <dgm:spPr/>
      <dgm:t>
        <a:bodyPr/>
        <a:p>
          <a:endParaRPr lang="en-US"/>
        </a:p>
      </dgm:t>
    </dgm:pt>
    <dgm:pt modelId="{D5E542A6-2C10-4832-8E38-82821B7DF259}" cxnId="{11EC26F3-EE36-407F-ADD9-5102771A415F}" type="sibTrans">
      <dgm:prSet/>
      <dgm:spPr/>
      <dgm:t>
        <a:bodyPr/>
        <a:p>
          <a:endParaRPr lang="en-US"/>
        </a:p>
      </dgm:t>
    </dgm:pt>
    <dgm:pt modelId="{1DF4AACC-FCFE-4478-BA2F-B6B158A02CB5}" type="pres">
      <dgm:prSet presAssocID="{30139F80-A41F-4296-BEDA-4E4BEC89A86F}" presName="Name0" presStyleCnt="0">
        <dgm:presLayoutVars>
          <dgm:dir/>
          <dgm:resizeHandles val="exact"/>
        </dgm:presLayoutVars>
      </dgm:prSet>
      <dgm:spPr/>
    </dgm:pt>
    <dgm:pt modelId="{0AF41DD3-82AC-4D68-969B-AFC5197C8579}" type="pres">
      <dgm:prSet presAssocID="{30139F80-A41F-4296-BEDA-4E4BEC89A86F}" presName="cycle" presStyleCnt="0"/>
      <dgm:spPr/>
    </dgm:pt>
    <dgm:pt modelId="{22A11489-3ABA-40F8-A51D-1DD036252FB1}" type="pres">
      <dgm:prSet presAssocID="{ED27F895-F932-4520-A6E7-20717B1B6ABA}" presName="nodeFirstNode" presStyleLbl="node1" presStyleIdx="0" presStyleCnt="5">
        <dgm:presLayoutVars>
          <dgm:bulletEnabled val="1"/>
        </dgm:presLayoutVars>
      </dgm:prSet>
      <dgm:spPr/>
    </dgm:pt>
    <dgm:pt modelId="{337EB5E2-1680-494E-8F98-087A78809C28}" type="pres">
      <dgm:prSet presAssocID="{7197E9C7-2BFC-4382-A4C1-AF8E70D3407A}" presName="sibTransFirstNode" presStyleLbl="bgShp" presStyleIdx="0" presStyleCnt="1"/>
      <dgm:spPr/>
    </dgm:pt>
    <dgm:pt modelId="{688DC5BA-912A-4A40-91DF-67B2BDDD2B94}" type="pres">
      <dgm:prSet presAssocID="{FAC4F552-553A-4AE6-BC40-237F3697F56A}" presName="nodeFollowingNodes" presStyleLbl="node1" presStyleIdx="1" presStyleCnt="5">
        <dgm:presLayoutVars>
          <dgm:bulletEnabled val="1"/>
        </dgm:presLayoutVars>
      </dgm:prSet>
      <dgm:spPr/>
    </dgm:pt>
    <dgm:pt modelId="{28D855B3-3DD3-4000-8129-7193272CBB99}" type="pres">
      <dgm:prSet presAssocID="{65F0DA01-8262-450D-BD62-8690C98FDAD2}" presName="nodeFollowingNodes" presStyleLbl="node1" presStyleIdx="2" presStyleCnt="5">
        <dgm:presLayoutVars>
          <dgm:bulletEnabled val="1"/>
        </dgm:presLayoutVars>
      </dgm:prSet>
      <dgm:spPr/>
    </dgm:pt>
    <dgm:pt modelId="{BDF9D8B2-8B45-43D0-8BAF-27565E824A5E}" type="pres">
      <dgm:prSet presAssocID="{944AD0D2-6BD8-4775-9B4A-3461CC8DB612}" presName="nodeFollowingNodes" presStyleLbl="node1" presStyleIdx="3" presStyleCnt="5">
        <dgm:presLayoutVars>
          <dgm:bulletEnabled val="1"/>
        </dgm:presLayoutVars>
      </dgm:prSet>
      <dgm:spPr/>
    </dgm:pt>
    <dgm:pt modelId="{BFF1AEDD-3E7C-471E-AC6C-1F6B329BE939}" type="pres">
      <dgm:prSet presAssocID="{F31169B2-585C-4BD6-AAB7-1E90D256C935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06D1E1D2-6EA6-4EFA-8234-E22DD6CCA2B3}" srcId="{30139F80-A41F-4296-BEDA-4E4BEC89A86F}" destId="{ED27F895-F932-4520-A6E7-20717B1B6ABA}" srcOrd="0" destOrd="0" parTransId="{E4F3F18A-396C-4AEE-B550-7690C2F59830}" sibTransId="{7197E9C7-2BFC-4382-A4C1-AF8E70D3407A}"/>
    <dgm:cxn modelId="{DC59903A-4004-4124-BF05-266470FBBFB7}" srcId="{30139F80-A41F-4296-BEDA-4E4BEC89A86F}" destId="{FAC4F552-553A-4AE6-BC40-237F3697F56A}" srcOrd="1" destOrd="0" parTransId="{7FD9B64E-5280-4B70-903C-6F2BE28A6CE5}" sibTransId="{C214425F-F630-4C52-8627-F2DE8D0D90BA}"/>
    <dgm:cxn modelId="{D8D87611-8B8D-482D-9CAF-DDDDDB7C7051}" srcId="{30139F80-A41F-4296-BEDA-4E4BEC89A86F}" destId="{65F0DA01-8262-450D-BD62-8690C98FDAD2}" srcOrd="2" destOrd="0" parTransId="{45A96CE7-8DBE-4F8A-87D0-854153A0DCCB}" sibTransId="{E3AA9C70-C00F-41C3-AC24-14264B3DF079}"/>
    <dgm:cxn modelId="{10637414-6C93-4080-8F0D-621DCECA206F}" srcId="{30139F80-A41F-4296-BEDA-4E4BEC89A86F}" destId="{944AD0D2-6BD8-4775-9B4A-3461CC8DB612}" srcOrd="3" destOrd="0" parTransId="{B2A879E3-C78E-4E3B-8F77-03E9FE070EDF}" sibTransId="{8D86A813-F5F9-4521-8CB4-55B30CE68982}"/>
    <dgm:cxn modelId="{11EC26F3-EE36-407F-ADD9-5102771A415F}" srcId="{30139F80-A41F-4296-BEDA-4E4BEC89A86F}" destId="{F31169B2-585C-4BD6-AAB7-1E90D256C935}" srcOrd="4" destOrd="0" parTransId="{EE61BEF3-F390-4F05-94B5-481342196429}" sibTransId="{D5E542A6-2C10-4832-8E38-82821B7DF259}"/>
    <dgm:cxn modelId="{96C533A5-0E66-4F93-BE57-8A9989D6C0CB}" type="presOf" srcId="{30139F80-A41F-4296-BEDA-4E4BEC89A86F}" destId="{1DF4AACC-FCFE-4478-BA2F-B6B158A02CB5}" srcOrd="0" destOrd="0" presId="urn:microsoft.com/office/officeart/2005/8/layout/cycle3"/>
    <dgm:cxn modelId="{CBAC19D2-692D-4105-9904-3DCD92B07C47}" type="presParOf" srcId="{1DF4AACC-FCFE-4478-BA2F-B6B158A02CB5}" destId="{0AF41DD3-82AC-4D68-969B-AFC5197C8579}" srcOrd="0" destOrd="0" presId="urn:microsoft.com/office/officeart/2005/8/layout/cycle3"/>
    <dgm:cxn modelId="{263DD49F-36BC-44B0-8A01-4D8474538178}" type="presParOf" srcId="{0AF41DD3-82AC-4D68-969B-AFC5197C8579}" destId="{22A11489-3ABA-40F8-A51D-1DD036252FB1}" srcOrd="0" destOrd="0" presId="urn:microsoft.com/office/officeart/2005/8/layout/cycle3"/>
    <dgm:cxn modelId="{838BC597-0211-4920-A536-E2BB07ADA49D}" type="presOf" srcId="{ED27F895-F932-4520-A6E7-20717B1B6ABA}" destId="{22A11489-3ABA-40F8-A51D-1DD036252FB1}" srcOrd="0" destOrd="0" presId="urn:microsoft.com/office/officeart/2005/8/layout/cycle3"/>
    <dgm:cxn modelId="{BD1E7BB3-52D1-4583-B016-D0044B90B60C}" type="presParOf" srcId="{0AF41DD3-82AC-4D68-969B-AFC5197C8579}" destId="{337EB5E2-1680-494E-8F98-087A78809C28}" srcOrd="1" destOrd="0" presId="urn:microsoft.com/office/officeart/2005/8/layout/cycle3"/>
    <dgm:cxn modelId="{DF90E805-A29F-40C5-A731-654F4192BC1F}" type="presOf" srcId="{7197E9C7-2BFC-4382-A4C1-AF8E70D3407A}" destId="{337EB5E2-1680-494E-8F98-087A78809C28}" srcOrd="0" destOrd="0" presId="urn:microsoft.com/office/officeart/2005/8/layout/cycle3"/>
    <dgm:cxn modelId="{99223EA8-D55A-474E-AA04-3581806FADAE}" type="presParOf" srcId="{0AF41DD3-82AC-4D68-969B-AFC5197C8579}" destId="{688DC5BA-912A-4A40-91DF-67B2BDDD2B94}" srcOrd="2" destOrd="0" presId="urn:microsoft.com/office/officeart/2005/8/layout/cycle3"/>
    <dgm:cxn modelId="{47BFFB13-3EC1-46BF-8574-82F57444F3C3}" type="presOf" srcId="{FAC4F552-553A-4AE6-BC40-237F3697F56A}" destId="{688DC5BA-912A-4A40-91DF-67B2BDDD2B94}" srcOrd="0" destOrd="0" presId="urn:microsoft.com/office/officeart/2005/8/layout/cycle3"/>
    <dgm:cxn modelId="{6FC712A2-1BA7-4115-9BD7-E3817A5A0187}" type="presParOf" srcId="{0AF41DD3-82AC-4D68-969B-AFC5197C8579}" destId="{28D855B3-3DD3-4000-8129-7193272CBB99}" srcOrd="3" destOrd="0" presId="urn:microsoft.com/office/officeart/2005/8/layout/cycle3"/>
    <dgm:cxn modelId="{37DECB63-62DB-48B7-9139-E944B69A6C37}" type="presOf" srcId="{65F0DA01-8262-450D-BD62-8690C98FDAD2}" destId="{28D855B3-3DD3-4000-8129-7193272CBB99}" srcOrd="0" destOrd="0" presId="urn:microsoft.com/office/officeart/2005/8/layout/cycle3"/>
    <dgm:cxn modelId="{E89AF764-71AA-4EE9-817C-51DD2DFB4F08}" type="presParOf" srcId="{0AF41DD3-82AC-4D68-969B-AFC5197C8579}" destId="{BDF9D8B2-8B45-43D0-8BAF-27565E824A5E}" srcOrd="4" destOrd="0" presId="urn:microsoft.com/office/officeart/2005/8/layout/cycle3"/>
    <dgm:cxn modelId="{09CE9C04-3383-4582-B1B3-0E4F0823CACF}" type="presOf" srcId="{944AD0D2-6BD8-4775-9B4A-3461CC8DB612}" destId="{BDF9D8B2-8B45-43D0-8BAF-27565E824A5E}" srcOrd="0" destOrd="0" presId="urn:microsoft.com/office/officeart/2005/8/layout/cycle3"/>
    <dgm:cxn modelId="{CCA7172F-9040-4B64-8C83-63BA837C344F}" type="presParOf" srcId="{0AF41DD3-82AC-4D68-969B-AFC5197C8579}" destId="{BFF1AEDD-3E7C-471E-AC6C-1F6B329BE939}" srcOrd="5" destOrd="0" presId="urn:microsoft.com/office/officeart/2005/8/layout/cycle3"/>
    <dgm:cxn modelId="{09DC5FD8-01EE-4BC6-8760-7B4FB8C95A81}" type="presOf" srcId="{F31169B2-585C-4BD6-AAB7-1E90D256C935}" destId="{BFF1AEDD-3E7C-471E-AC6C-1F6B329BE939}" srcOrd="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947841-6403-4FFC-99FA-121569EA9BEE}" type="doc">
      <dgm:prSet loTypeId="urn:microsoft.com/office/officeart/2005/8/layout/vList2#1" loCatId="list" qsTypeId="urn:microsoft.com/office/officeart/2005/8/quickstyle/simple1#3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4C79A68D-D6C3-447D-B555-7FDFDA9F1FF1}">
      <dgm:prSet/>
      <dgm:spPr/>
      <dgm:t>
        <a:bodyPr/>
        <a:lstStyle/>
        <a:p>
          <a:r>
            <a:rPr lang="en-US" b="1"/>
            <a:t>Represented By :</a:t>
          </a:r>
          <a:endParaRPr lang="en-US"/>
        </a:p>
      </dgm:t>
    </dgm:pt>
    <dgm:pt modelId="{93844D05-5FDA-419B-AEC0-F10DDDF1B15E}" cxnId="{4C9C2709-C251-41EC-96CC-0D99DB84DBD0}" type="parTrans">
      <dgm:prSet/>
      <dgm:spPr/>
      <dgm:t>
        <a:bodyPr/>
        <a:lstStyle/>
        <a:p>
          <a:endParaRPr lang="en-US"/>
        </a:p>
      </dgm:t>
    </dgm:pt>
    <dgm:pt modelId="{97A2ACCD-D395-468F-91A2-444931713F01}" cxnId="{4C9C2709-C251-41EC-96CC-0D99DB84DBD0}" type="sibTrans">
      <dgm:prSet/>
      <dgm:spPr/>
      <dgm:t>
        <a:bodyPr/>
        <a:lstStyle/>
        <a:p>
          <a:endParaRPr lang="en-US"/>
        </a:p>
      </dgm:t>
    </dgm:pt>
    <dgm:pt modelId="{7AEBEF0F-C90B-4584-A9F6-A94A0A830120}">
      <dgm:prSet/>
      <dgm:spPr/>
      <dgm:t>
        <a:bodyPr/>
        <a:lstStyle/>
        <a:p>
          <a:r>
            <a:rPr lang="de-DE" b="1" dirty="0"/>
            <a:t>Yasser Ashraf Mohammed</a:t>
          </a:r>
          <a:endParaRPr lang="en-US" dirty="0"/>
        </a:p>
      </dgm:t>
    </dgm:pt>
    <dgm:pt modelId="{81221759-A94D-490E-8AB4-F1187BA220AD}" cxnId="{9E672F98-79A0-47A3-9E5D-A3748213CACF}" type="parTrans">
      <dgm:prSet/>
      <dgm:spPr/>
      <dgm:t>
        <a:bodyPr/>
        <a:lstStyle/>
        <a:p>
          <a:endParaRPr lang="en-US"/>
        </a:p>
      </dgm:t>
    </dgm:pt>
    <dgm:pt modelId="{13EF8F3A-BC93-4603-AE59-CEB8DF8D23F1}" cxnId="{9E672F98-79A0-47A3-9E5D-A3748213CACF}" type="sibTrans">
      <dgm:prSet/>
      <dgm:spPr/>
      <dgm:t>
        <a:bodyPr/>
        <a:lstStyle/>
        <a:p>
          <a:endParaRPr lang="en-US"/>
        </a:p>
      </dgm:t>
    </dgm:pt>
    <dgm:pt modelId="{4B50B5FF-09A6-4CA5-9A14-C1136A6517A5}">
      <dgm:prSet/>
      <dgm:spPr/>
      <dgm:t>
        <a:bodyPr/>
        <a:lstStyle/>
        <a:p>
          <a:r>
            <a:rPr lang="en-US" b="1"/>
            <a:t>Hamza Hussain Youssef</a:t>
          </a:r>
          <a:endParaRPr lang="en-US"/>
        </a:p>
      </dgm:t>
    </dgm:pt>
    <dgm:pt modelId="{64C76E61-2E31-48AB-92B8-02969C553FE6}" cxnId="{3A55B25C-EB97-4585-9A0A-39BAB3570ACF}" type="parTrans">
      <dgm:prSet/>
      <dgm:spPr/>
      <dgm:t>
        <a:bodyPr/>
        <a:lstStyle/>
        <a:p>
          <a:endParaRPr lang="en-US"/>
        </a:p>
      </dgm:t>
    </dgm:pt>
    <dgm:pt modelId="{C0149D04-0499-4209-82B4-0150FD562660}" cxnId="{3A55B25C-EB97-4585-9A0A-39BAB3570ACF}" type="sibTrans">
      <dgm:prSet/>
      <dgm:spPr/>
      <dgm:t>
        <a:bodyPr/>
        <a:lstStyle/>
        <a:p>
          <a:endParaRPr lang="en-US"/>
        </a:p>
      </dgm:t>
    </dgm:pt>
    <dgm:pt modelId="{C5BEBB59-F2C9-4ACA-B5FD-F5CFA7F91ABE}">
      <dgm:prSet/>
      <dgm:spPr/>
      <dgm:t>
        <a:bodyPr/>
        <a:lstStyle/>
        <a:p>
          <a:r>
            <a:rPr lang="en-US" b="1"/>
            <a:t>Ahmad Khlifa Abdulraouf</a:t>
          </a:r>
          <a:endParaRPr lang="en-US"/>
        </a:p>
      </dgm:t>
    </dgm:pt>
    <dgm:pt modelId="{DA14B2CD-2150-4B12-B7E9-16632D0544AE}" cxnId="{53193494-4278-4657-8D68-7D2F8491DBFE}" type="parTrans">
      <dgm:prSet/>
      <dgm:spPr/>
      <dgm:t>
        <a:bodyPr/>
        <a:lstStyle/>
        <a:p>
          <a:endParaRPr lang="en-US"/>
        </a:p>
      </dgm:t>
    </dgm:pt>
    <dgm:pt modelId="{19BA1818-56C0-47FF-A61B-6418D1C87F34}" cxnId="{53193494-4278-4657-8D68-7D2F8491DBFE}" type="sibTrans">
      <dgm:prSet/>
      <dgm:spPr/>
      <dgm:t>
        <a:bodyPr/>
        <a:lstStyle/>
        <a:p>
          <a:endParaRPr lang="en-US"/>
        </a:p>
      </dgm:t>
    </dgm:pt>
    <dgm:pt modelId="{F02F83A3-A48C-4C7C-8A05-9498169AEF06}">
      <dgm:prSet/>
      <dgm:spPr/>
      <dgm:t>
        <a:bodyPr/>
        <a:lstStyle/>
        <a:p>
          <a:r>
            <a:rPr lang="en-US" b="1" dirty="0"/>
            <a:t>Moaz Moustafa Abdul Hamid</a:t>
          </a:r>
          <a:endParaRPr lang="en-US" dirty="0"/>
        </a:p>
      </dgm:t>
    </dgm:pt>
    <dgm:pt modelId="{64CDBB57-8C31-4FD5-BCDD-30B80BBA6BE4}" cxnId="{978FC243-34C7-48A7-8EC7-7E10A90A0367}" type="parTrans">
      <dgm:prSet/>
      <dgm:spPr/>
      <dgm:t>
        <a:bodyPr/>
        <a:lstStyle/>
        <a:p>
          <a:endParaRPr lang="en-US"/>
        </a:p>
      </dgm:t>
    </dgm:pt>
    <dgm:pt modelId="{A46871E3-EC6E-405E-858A-7CD5B8C2FB53}" cxnId="{978FC243-34C7-48A7-8EC7-7E10A90A0367}" type="sibTrans">
      <dgm:prSet/>
      <dgm:spPr/>
      <dgm:t>
        <a:bodyPr/>
        <a:lstStyle/>
        <a:p>
          <a:endParaRPr lang="en-US"/>
        </a:p>
      </dgm:t>
    </dgm:pt>
    <dgm:pt modelId="{9EC8892B-7B66-4B07-8CA4-958C0FA3FADA}">
      <dgm:prSet/>
      <dgm:spPr/>
      <dgm:t>
        <a:bodyPr/>
        <a:lstStyle/>
        <a:p>
          <a:r>
            <a:rPr lang="en-US" b="1"/>
            <a:t>Moamen Ahmed Mohammed</a:t>
          </a:r>
          <a:endParaRPr lang="en-US"/>
        </a:p>
      </dgm:t>
    </dgm:pt>
    <dgm:pt modelId="{98212002-747A-4BC2-913E-5978AFDD59B2}" cxnId="{55A64990-D36E-47A1-9C0E-2B5CC3330B9B}" type="parTrans">
      <dgm:prSet/>
      <dgm:spPr/>
      <dgm:t>
        <a:bodyPr/>
        <a:lstStyle/>
        <a:p>
          <a:endParaRPr lang="en-US"/>
        </a:p>
      </dgm:t>
    </dgm:pt>
    <dgm:pt modelId="{1147BF0E-2648-47B9-9D01-B1F2BDDE4E89}" cxnId="{55A64990-D36E-47A1-9C0E-2B5CC3330B9B}" type="sibTrans">
      <dgm:prSet/>
      <dgm:spPr/>
      <dgm:t>
        <a:bodyPr/>
        <a:lstStyle/>
        <a:p>
          <a:endParaRPr lang="en-US"/>
        </a:p>
      </dgm:t>
    </dgm:pt>
    <dgm:pt modelId="{9D51393B-F77C-4823-9CF2-4AD7E0786299}">
      <dgm:prSet/>
      <dgm:spPr/>
      <dgm:t>
        <a:bodyPr/>
        <a:lstStyle/>
        <a:p>
          <a:r>
            <a:rPr lang="en-US" b="1" dirty="0"/>
            <a:t>Abdul Rahman Hesham Ragab</a:t>
          </a:r>
          <a:endParaRPr lang="en-US" dirty="0"/>
        </a:p>
      </dgm:t>
    </dgm:pt>
    <dgm:pt modelId="{E32884AF-FCCA-4BD3-8CEE-40D5A8C4F624}" cxnId="{B6CCDF68-2C09-4AC4-82A3-0933F183F26A}" type="parTrans">
      <dgm:prSet/>
      <dgm:spPr/>
      <dgm:t>
        <a:bodyPr/>
        <a:lstStyle/>
        <a:p>
          <a:endParaRPr lang="en-US"/>
        </a:p>
      </dgm:t>
    </dgm:pt>
    <dgm:pt modelId="{52253280-89EA-4152-8A41-09FD03D0A588}" cxnId="{B6CCDF68-2C09-4AC4-82A3-0933F183F26A}" type="sibTrans">
      <dgm:prSet/>
      <dgm:spPr/>
      <dgm:t>
        <a:bodyPr/>
        <a:lstStyle/>
        <a:p>
          <a:endParaRPr lang="en-US"/>
        </a:p>
      </dgm:t>
    </dgm:pt>
    <dgm:pt modelId="{B15EC0D0-F1BA-4D62-9225-70F983833D48}">
      <dgm:prSet/>
      <dgm:spPr/>
      <dgm:t>
        <a:bodyPr/>
        <a:lstStyle/>
        <a:p>
          <a:r>
            <a:rPr lang="en-US" b="1"/>
            <a:t>Supervised By</a:t>
          </a:r>
          <a:endParaRPr lang="en-US"/>
        </a:p>
      </dgm:t>
    </dgm:pt>
    <dgm:pt modelId="{70A9A5D6-389C-4943-9678-B47DD4180330}" cxnId="{D17365FC-0DE5-4DC1-8919-D55A31AB83D6}" type="parTrans">
      <dgm:prSet/>
      <dgm:spPr/>
      <dgm:t>
        <a:bodyPr/>
        <a:lstStyle/>
        <a:p>
          <a:endParaRPr lang="en-US"/>
        </a:p>
      </dgm:t>
    </dgm:pt>
    <dgm:pt modelId="{BC581461-A6C0-4EE7-A4E6-FABA5008E95A}" cxnId="{D17365FC-0DE5-4DC1-8919-D55A31AB83D6}" type="sibTrans">
      <dgm:prSet/>
      <dgm:spPr/>
      <dgm:t>
        <a:bodyPr/>
        <a:lstStyle/>
        <a:p>
          <a:endParaRPr lang="en-US"/>
        </a:p>
      </dgm:t>
    </dgm:pt>
    <dgm:pt modelId="{C2D4A8E6-3087-4DD4-B70A-3F43E1111448}">
      <dgm:prSet/>
      <dgm:spPr/>
      <dgm:t>
        <a:bodyPr/>
        <a:lstStyle/>
        <a:p>
          <a:r>
            <a:rPr lang="en-US" b="1"/>
            <a:t>Dr Mohammed Khamis</a:t>
          </a:r>
          <a:endParaRPr lang="en-US"/>
        </a:p>
      </dgm:t>
    </dgm:pt>
    <dgm:pt modelId="{A9AD79BF-55D1-4590-AB62-3A847DB8FE76}" cxnId="{8011AEE2-6227-4214-9E04-B65EDFCE421A}" type="parTrans">
      <dgm:prSet/>
      <dgm:spPr/>
      <dgm:t>
        <a:bodyPr/>
        <a:lstStyle/>
        <a:p>
          <a:endParaRPr lang="en-US"/>
        </a:p>
      </dgm:t>
    </dgm:pt>
    <dgm:pt modelId="{A412A7F9-F4CD-4496-BBAD-03CD6DC8E5D7}" cxnId="{8011AEE2-6227-4214-9E04-B65EDFCE421A}" type="sibTrans">
      <dgm:prSet/>
      <dgm:spPr/>
      <dgm:t>
        <a:bodyPr/>
        <a:lstStyle/>
        <a:p>
          <a:endParaRPr lang="en-US"/>
        </a:p>
      </dgm:t>
    </dgm:pt>
    <dgm:pt modelId="{85F47205-8090-4DAF-9EAA-65800A8F3C15}" type="pres">
      <dgm:prSet presAssocID="{06947841-6403-4FFC-99FA-121569EA9BEE}" presName="linear" presStyleCnt="0">
        <dgm:presLayoutVars>
          <dgm:animLvl val="lvl"/>
          <dgm:resizeHandles val="exact"/>
        </dgm:presLayoutVars>
      </dgm:prSet>
      <dgm:spPr/>
    </dgm:pt>
    <dgm:pt modelId="{A4CD7551-B0E4-43A6-A8A5-1419A62F9919}" type="pres">
      <dgm:prSet presAssocID="{4C79A68D-D6C3-447D-B555-7FDFDA9F1FF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302F716-2644-429A-8810-19A9F7E33450}" type="pres">
      <dgm:prSet presAssocID="{4C79A68D-D6C3-447D-B555-7FDFDA9F1FF1}" presName="childText" presStyleLbl="revTx" presStyleIdx="0" presStyleCnt="2">
        <dgm:presLayoutVars>
          <dgm:bulletEnabled val="1"/>
        </dgm:presLayoutVars>
      </dgm:prSet>
      <dgm:spPr/>
    </dgm:pt>
    <dgm:pt modelId="{7B6FA286-4A8D-4C73-B60F-8F2A83979DB3}" type="pres">
      <dgm:prSet presAssocID="{B15EC0D0-F1BA-4D62-9225-70F983833D4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0403CC3-41E4-4155-AAF2-599BD7E22D2A}" type="pres">
      <dgm:prSet presAssocID="{B15EC0D0-F1BA-4D62-9225-70F983833D4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BE4C401-6E93-49F0-AA8D-A34FA094C9A9}" type="presOf" srcId="{9D51393B-F77C-4823-9CF2-4AD7E0786299}" destId="{5302F716-2644-429A-8810-19A9F7E33450}" srcOrd="0" destOrd="5" presId="urn:microsoft.com/office/officeart/2005/8/layout/vList2#1"/>
    <dgm:cxn modelId="{4C9C2709-C251-41EC-96CC-0D99DB84DBD0}" srcId="{06947841-6403-4FFC-99FA-121569EA9BEE}" destId="{4C79A68D-D6C3-447D-B555-7FDFDA9F1FF1}" srcOrd="0" destOrd="0" parTransId="{93844D05-5FDA-419B-AEC0-F10DDDF1B15E}" sibTransId="{97A2ACCD-D395-468F-91A2-444931713F01}"/>
    <dgm:cxn modelId="{465B471A-5ECB-4DAA-A618-E8949D4BDA51}" type="presOf" srcId="{9EC8892B-7B66-4B07-8CA4-958C0FA3FADA}" destId="{5302F716-2644-429A-8810-19A9F7E33450}" srcOrd="0" destOrd="4" presId="urn:microsoft.com/office/officeart/2005/8/layout/vList2#1"/>
    <dgm:cxn modelId="{975D3C1D-500E-4AAE-AB8A-68CC3D266F43}" type="presOf" srcId="{C5BEBB59-F2C9-4ACA-B5FD-F5CFA7F91ABE}" destId="{5302F716-2644-429A-8810-19A9F7E33450}" srcOrd="0" destOrd="2" presId="urn:microsoft.com/office/officeart/2005/8/layout/vList2#1"/>
    <dgm:cxn modelId="{3A55B25C-EB97-4585-9A0A-39BAB3570ACF}" srcId="{4C79A68D-D6C3-447D-B555-7FDFDA9F1FF1}" destId="{4B50B5FF-09A6-4CA5-9A14-C1136A6517A5}" srcOrd="1" destOrd="0" parTransId="{64C76E61-2E31-48AB-92B8-02969C553FE6}" sibTransId="{C0149D04-0499-4209-82B4-0150FD562660}"/>
    <dgm:cxn modelId="{978FC243-34C7-48A7-8EC7-7E10A90A0367}" srcId="{4C79A68D-D6C3-447D-B555-7FDFDA9F1FF1}" destId="{F02F83A3-A48C-4C7C-8A05-9498169AEF06}" srcOrd="3" destOrd="0" parTransId="{64CDBB57-8C31-4FD5-BCDD-30B80BBA6BE4}" sibTransId="{A46871E3-EC6E-405E-858A-7CD5B8C2FB53}"/>
    <dgm:cxn modelId="{B6CCDF68-2C09-4AC4-82A3-0933F183F26A}" srcId="{4C79A68D-D6C3-447D-B555-7FDFDA9F1FF1}" destId="{9D51393B-F77C-4823-9CF2-4AD7E0786299}" srcOrd="5" destOrd="0" parTransId="{E32884AF-FCCA-4BD3-8CEE-40D5A8C4F624}" sibTransId="{52253280-89EA-4152-8A41-09FD03D0A588}"/>
    <dgm:cxn modelId="{5EC0034B-57FB-471D-9583-14B2E2B09A52}" type="presOf" srcId="{7AEBEF0F-C90B-4584-A9F6-A94A0A830120}" destId="{5302F716-2644-429A-8810-19A9F7E33450}" srcOrd="0" destOrd="0" presId="urn:microsoft.com/office/officeart/2005/8/layout/vList2#1"/>
    <dgm:cxn modelId="{DBF5487D-480E-4E7A-8B9D-722B2F5E5BD3}" type="presOf" srcId="{4C79A68D-D6C3-447D-B555-7FDFDA9F1FF1}" destId="{A4CD7551-B0E4-43A6-A8A5-1419A62F9919}" srcOrd="0" destOrd="0" presId="urn:microsoft.com/office/officeart/2005/8/layout/vList2#1"/>
    <dgm:cxn modelId="{55A64990-D36E-47A1-9C0E-2B5CC3330B9B}" srcId="{4C79A68D-D6C3-447D-B555-7FDFDA9F1FF1}" destId="{9EC8892B-7B66-4B07-8CA4-958C0FA3FADA}" srcOrd="4" destOrd="0" parTransId="{98212002-747A-4BC2-913E-5978AFDD59B2}" sibTransId="{1147BF0E-2648-47B9-9D01-B1F2BDDE4E89}"/>
    <dgm:cxn modelId="{53193494-4278-4657-8D68-7D2F8491DBFE}" srcId="{4C79A68D-D6C3-447D-B555-7FDFDA9F1FF1}" destId="{C5BEBB59-F2C9-4ACA-B5FD-F5CFA7F91ABE}" srcOrd="2" destOrd="0" parTransId="{DA14B2CD-2150-4B12-B7E9-16632D0544AE}" sibTransId="{19BA1818-56C0-47FF-A61B-6418D1C87F34}"/>
    <dgm:cxn modelId="{9E672F98-79A0-47A3-9E5D-A3748213CACF}" srcId="{4C79A68D-D6C3-447D-B555-7FDFDA9F1FF1}" destId="{7AEBEF0F-C90B-4584-A9F6-A94A0A830120}" srcOrd="0" destOrd="0" parTransId="{81221759-A94D-490E-8AB4-F1187BA220AD}" sibTransId="{13EF8F3A-BC93-4603-AE59-CEB8DF8D23F1}"/>
    <dgm:cxn modelId="{FBEA6FB5-B9DD-4AD6-B72F-1632CC5F8D48}" type="presOf" srcId="{B15EC0D0-F1BA-4D62-9225-70F983833D48}" destId="{7B6FA286-4A8D-4C73-B60F-8F2A83979DB3}" srcOrd="0" destOrd="0" presId="urn:microsoft.com/office/officeart/2005/8/layout/vList2#1"/>
    <dgm:cxn modelId="{ACAFB5C0-3146-4020-BE92-A0404CB7F067}" type="presOf" srcId="{4B50B5FF-09A6-4CA5-9A14-C1136A6517A5}" destId="{5302F716-2644-429A-8810-19A9F7E33450}" srcOrd="0" destOrd="1" presId="urn:microsoft.com/office/officeart/2005/8/layout/vList2#1"/>
    <dgm:cxn modelId="{C1509EC2-0E6F-4404-A88E-1DDD55F73163}" type="presOf" srcId="{06947841-6403-4FFC-99FA-121569EA9BEE}" destId="{85F47205-8090-4DAF-9EAA-65800A8F3C15}" srcOrd="0" destOrd="0" presId="urn:microsoft.com/office/officeart/2005/8/layout/vList2#1"/>
    <dgm:cxn modelId="{EDC40CC9-9F5E-4A53-820A-7E248C125EEF}" type="presOf" srcId="{F02F83A3-A48C-4C7C-8A05-9498169AEF06}" destId="{5302F716-2644-429A-8810-19A9F7E33450}" srcOrd="0" destOrd="3" presId="urn:microsoft.com/office/officeart/2005/8/layout/vList2#1"/>
    <dgm:cxn modelId="{8011AEE2-6227-4214-9E04-B65EDFCE421A}" srcId="{B15EC0D0-F1BA-4D62-9225-70F983833D48}" destId="{C2D4A8E6-3087-4DD4-B70A-3F43E1111448}" srcOrd="0" destOrd="0" parTransId="{A9AD79BF-55D1-4590-AB62-3A847DB8FE76}" sibTransId="{A412A7F9-F4CD-4496-BBAD-03CD6DC8E5D7}"/>
    <dgm:cxn modelId="{ADFD80E7-993A-4320-9EC4-236C46ECF0C4}" type="presOf" srcId="{C2D4A8E6-3087-4DD4-B70A-3F43E1111448}" destId="{40403CC3-41E4-4155-AAF2-599BD7E22D2A}" srcOrd="0" destOrd="0" presId="urn:microsoft.com/office/officeart/2005/8/layout/vList2#1"/>
    <dgm:cxn modelId="{D17365FC-0DE5-4DC1-8919-D55A31AB83D6}" srcId="{06947841-6403-4FFC-99FA-121569EA9BEE}" destId="{B15EC0D0-F1BA-4D62-9225-70F983833D48}" srcOrd="1" destOrd="0" parTransId="{70A9A5D6-389C-4943-9678-B47DD4180330}" sibTransId="{BC581461-A6C0-4EE7-A4E6-FABA5008E95A}"/>
    <dgm:cxn modelId="{9E91300F-8B2A-4985-A062-8CCCD5E208DF}" type="presParOf" srcId="{85F47205-8090-4DAF-9EAA-65800A8F3C15}" destId="{A4CD7551-B0E4-43A6-A8A5-1419A62F9919}" srcOrd="0" destOrd="0" presId="urn:microsoft.com/office/officeart/2005/8/layout/vList2#1"/>
    <dgm:cxn modelId="{1F403C41-7CA3-4C47-B059-5FE2F1F0BFE9}" type="presParOf" srcId="{85F47205-8090-4DAF-9EAA-65800A8F3C15}" destId="{5302F716-2644-429A-8810-19A9F7E33450}" srcOrd="1" destOrd="0" presId="urn:microsoft.com/office/officeart/2005/8/layout/vList2#1"/>
    <dgm:cxn modelId="{C6424540-F981-435F-9381-B03F1019226E}" type="presParOf" srcId="{85F47205-8090-4DAF-9EAA-65800A8F3C15}" destId="{7B6FA286-4A8D-4C73-B60F-8F2A83979DB3}" srcOrd="2" destOrd="0" presId="urn:microsoft.com/office/officeart/2005/8/layout/vList2#1"/>
    <dgm:cxn modelId="{15961139-8334-4D69-83BC-F1D56D343B10}" type="presParOf" srcId="{85F47205-8090-4DAF-9EAA-65800A8F3C15}" destId="{40403CC3-41E4-4155-AAF2-599BD7E22D2A}" srcOrd="3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111DEAC9-5D4C-4A6A-A44E-082A26F60596}">
      <dsp:nvSpPr>
        <dsp:cNvPr id="3" name="Rounded Rectangle 2"/>
        <dsp:cNvSpPr/>
      </dsp:nvSpPr>
      <dsp:spPr bwMode="white">
        <a:xfrm>
          <a:off x="0" y="2067543"/>
          <a:ext cx="2138947" cy="128336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82879" tIns="182879" rIns="182879" bIns="182879" anchor="ctr"/>
        <a:lstStyle>
          <a:lvl1pPr algn="ctr">
            <a:defRPr sz="4800"/>
          </a:lvl1pPr>
          <a:lvl2pPr marL="285750" indent="-285750" algn="ctr">
            <a:defRPr sz="3700"/>
          </a:lvl2pPr>
          <a:lvl3pPr marL="571500" indent="-285750" algn="ctr">
            <a:defRPr sz="3700"/>
          </a:lvl3pPr>
          <a:lvl4pPr marL="857250" indent="-285750" algn="ctr">
            <a:defRPr sz="3700"/>
          </a:lvl4pPr>
          <a:lvl5pPr marL="1143000" indent="-285750" algn="ctr">
            <a:defRPr sz="3700"/>
          </a:lvl5pPr>
          <a:lvl6pPr marL="1428750" indent="-285750" algn="ctr">
            <a:defRPr sz="3700"/>
          </a:lvl6pPr>
          <a:lvl7pPr marL="1714500" indent="-285750" algn="ctr">
            <a:defRPr sz="3700"/>
          </a:lvl7pPr>
          <a:lvl8pPr marL="2000250" indent="-285750" algn="ctr">
            <a:defRPr sz="3700"/>
          </a:lvl8pPr>
          <a:lvl9pPr marL="2286000" indent="-285750" algn="ctr">
            <a:defRPr sz="3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/>
        </a:p>
      </dsp:txBody>
      <dsp:txXfrm>
        <a:off x="0" y="2067543"/>
        <a:ext cx="2138947" cy="1283368"/>
      </dsp:txXfrm>
    </dsp:sp>
    <dsp:sp modelId="{8A5CF0CE-3323-464D-9C63-05C1BDB053F5}">
      <dsp:nvSpPr>
        <dsp:cNvPr id="4" name="Right Arrow 3"/>
        <dsp:cNvSpPr/>
      </dsp:nvSpPr>
      <dsp:spPr bwMode="white">
        <a:xfrm>
          <a:off x="2340008" y="2443998"/>
          <a:ext cx="453457" cy="53045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20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/>
        </a:p>
      </dsp:txBody>
      <dsp:txXfrm>
        <a:off x="2340008" y="2443998"/>
        <a:ext cx="453457" cy="530459"/>
      </dsp:txXfrm>
    </dsp:sp>
    <dsp:sp modelId="{552FB8E7-A5FB-4CC3-94C3-CE0BDF19F9F1}">
      <dsp:nvSpPr>
        <dsp:cNvPr id="5" name="Rounded Rectangle 4"/>
        <dsp:cNvSpPr/>
      </dsp:nvSpPr>
      <dsp:spPr bwMode="white">
        <a:xfrm>
          <a:off x="2994526" y="2067543"/>
          <a:ext cx="2138947" cy="128336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82879" tIns="182879" rIns="182879" bIns="182879" anchor="ctr"/>
        <a:lstStyle>
          <a:lvl1pPr algn="ctr">
            <a:defRPr sz="4800"/>
          </a:lvl1pPr>
          <a:lvl2pPr marL="285750" indent="-285750" algn="ctr">
            <a:defRPr sz="3700"/>
          </a:lvl2pPr>
          <a:lvl3pPr marL="571500" indent="-285750" algn="ctr">
            <a:defRPr sz="3700"/>
          </a:lvl3pPr>
          <a:lvl4pPr marL="857250" indent="-285750" algn="ctr">
            <a:defRPr sz="3700"/>
          </a:lvl4pPr>
          <a:lvl5pPr marL="1143000" indent="-285750" algn="ctr">
            <a:defRPr sz="3700"/>
          </a:lvl5pPr>
          <a:lvl6pPr marL="1428750" indent="-285750" algn="ctr">
            <a:defRPr sz="3700"/>
          </a:lvl6pPr>
          <a:lvl7pPr marL="1714500" indent="-285750" algn="ctr">
            <a:defRPr sz="3700"/>
          </a:lvl7pPr>
          <a:lvl8pPr marL="2000250" indent="-285750" algn="ctr">
            <a:defRPr sz="3700"/>
          </a:lvl8pPr>
          <a:lvl9pPr marL="2286000" indent="-285750" algn="ctr">
            <a:defRPr sz="3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/>
        </a:p>
      </dsp:txBody>
      <dsp:txXfrm>
        <a:off x="2994526" y="2067543"/>
        <a:ext cx="2138947" cy="1283368"/>
      </dsp:txXfrm>
    </dsp:sp>
    <dsp:sp modelId="{353C3794-50AA-4D44-83C9-CE28317C3317}">
      <dsp:nvSpPr>
        <dsp:cNvPr id="6" name="Right Arrow 5"/>
        <dsp:cNvSpPr/>
      </dsp:nvSpPr>
      <dsp:spPr bwMode="white">
        <a:xfrm>
          <a:off x="5334535" y="2443998"/>
          <a:ext cx="453457" cy="530459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2000"/>
          </a:lvl1pPr>
          <a:lvl2pPr marL="171450" indent="-171450" algn="ctr">
            <a:defRPr sz="1600"/>
          </a:lvl2pPr>
          <a:lvl3pPr marL="342900" indent="-171450" algn="ctr">
            <a:defRPr sz="1600"/>
          </a:lvl3pPr>
          <a:lvl4pPr marL="514350" indent="-171450" algn="ctr">
            <a:defRPr sz="1600"/>
          </a:lvl4pPr>
          <a:lvl5pPr marL="685800" indent="-171450" algn="ctr">
            <a:defRPr sz="1600"/>
          </a:lvl5pPr>
          <a:lvl6pPr marL="857250" indent="-171450" algn="ctr">
            <a:defRPr sz="1600"/>
          </a:lvl6pPr>
          <a:lvl7pPr marL="1028700" indent="-171450" algn="ctr">
            <a:defRPr sz="1600"/>
          </a:lvl7pPr>
          <a:lvl8pPr marL="1200150" indent="-171450" algn="ctr">
            <a:defRPr sz="1600"/>
          </a:lvl8pPr>
          <a:lvl9pPr marL="1371600" indent="-171450" algn="ctr">
            <a:defRPr sz="1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/>
        </a:p>
      </dsp:txBody>
      <dsp:txXfrm>
        <a:off x="5334535" y="2443998"/>
        <a:ext cx="453457" cy="530459"/>
      </dsp:txXfrm>
    </dsp:sp>
    <dsp:sp modelId="{A1E15D63-E1FF-4A28-A04F-A2B65927BC31}">
      <dsp:nvSpPr>
        <dsp:cNvPr id="7" name="Rounded Rectangle 6"/>
        <dsp:cNvSpPr/>
      </dsp:nvSpPr>
      <dsp:spPr bwMode="white">
        <a:xfrm>
          <a:off x="5989053" y="2067543"/>
          <a:ext cx="2138947" cy="128336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82879" tIns="182879" rIns="182879" bIns="182879" anchor="ctr"/>
        <a:lstStyle>
          <a:lvl1pPr algn="ctr">
            <a:defRPr sz="4800"/>
          </a:lvl1pPr>
          <a:lvl2pPr marL="285750" indent="-285750" algn="ctr">
            <a:defRPr sz="3700"/>
          </a:lvl2pPr>
          <a:lvl3pPr marL="571500" indent="-285750" algn="ctr">
            <a:defRPr sz="3700"/>
          </a:lvl3pPr>
          <a:lvl4pPr marL="857250" indent="-285750" algn="ctr">
            <a:defRPr sz="3700"/>
          </a:lvl4pPr>
          <a:lvl5pPr marL="1143000" indent="-285750" algn="ctr">
            <a:defRPr sz="3700"/>
          </a:lvl5pPr>
          <a:lvl6pPr marL="1428750" indent="-285750" algn="ctr">
            <a:defRPr sz="3700"/>
          </a:lvl6pPr>
          <a:lvl7pPr marL="1714500" indent="-285750" algn="ctr">
            <a:defRPr sz="3700"/>
          </a:lvl7pPr>
          <a:lvl8pPr marL="2000250" indent="-285750" algn="ctr">
            <a:defRPr sz="3700"/>
          </a:lvl8pPr>
          <a:lvl9pPr marL="2286000" indent="-285750" algn="ctr">
            <a:defRPr sz="3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/>
        </a:p>
      </dsp:txBody>
      <dsp:txXfrm>
        <a:off x="5989053" y="2067543"/>
        <a:ext cx="2138947" cy="12833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337EB5E2-1680-494E-8F98-087A78809C28}">
      <dsp:nvSpPr>
        <dsp:cNvPr id="4" name="Circular Arrow 3"/>
        <dsp:cNvSpPr/>
      </dsp:nvSpPr>
      <dsp:spPr bwMode="white">
        <a:xfrm>
          <a:off x="1413756" y="7167"/>
          <a:ext cx="5300488" cy="5300488"/>
        </a:xfrm>
        <a:prstGeom prst="circularArrow">
          <a:avLst>
            <a:gd name="adj1" fmla="val 5000"/>
            <a:gd name="adj2" fmla="val 360000"/>
            <a:gd name="adj3" fmla="val 13727780"/>
            <a:gd name="adj4" fmla="val 17352119"/>
            <a:gd name="adj5" fmla="val 5500"/>
          </a:avLst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1413756" y="7167"/>
        <a:ext cx="5300488" cy="5300488"/>
      </dsp:txXfrm>
    </dsp:sp>
    <dsp:sp modelId="{22A11489-3ABA-40F8-A51D-1DD036252FB1}">
      <dsp:nvSpPr>
        <dsp:cNvPr id="3" name="Rounded Rectangle 2"/>
        <dsp:cNvSpPr/>
      </dsp:nvSpPr>
      <dsp:spPr bwMode="white">
        <a:xfrm>
          <a:off x="2798643" y="0"/>
          <a:ext cx="2530714" cy="126535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Step 1: Owner </a:t>
          </a:r>
          <a:endParaRPr lang="en-US" sz="1800" b="1" i="1" u="sng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/>
            <a:t>— Lists item, requests expert check</a:t>
          </a:r>
          <a:endParaRPr lang="en-US" sz="1600"/>
        </a:p>
      </dsp:txBody>
      <dsp:txXfrm>
        <a:off x="2798643" y="0"/>
        <a:ext cx="2530714" cy="1265357"/>
      </dsp:txXfrm>
    </dsp:sp>
    <dsp:sp modelId="{688DC5BA-912A-4A40-91DF-67B2BDDD2B94}">
      <dsp:nvSpPr>
        <dsp:cNvPr id="5" name="Rounded Rectangle 4"/>
        <dsp:cNvSpPr/>
      </dsp:nvSpPr>
      <dsp:spPr bwMode="white">
        <a:xfrm>
          <a:off x="4982056" y="1586342"/>
          <a:ext cx="2530714" cy="126535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Step 2: Renty Hub </a:t>
          </a:r>
          <a:endParaRPr lang="en-US" sz="1800" b="1" i="1" u="sng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/>
            <a:t>— Owner brings item to nearest hub</a:t>
          </a:r>
          <a:endParaRPr lang="en-US" sz="1600"/>
        </a:p>
      </dsp:txBody>
      <dsp:txXfrm>
        <a:off x="4982056" y="1586342"/>
        <a:ext cx="2530714" cy="1265357"/>
      </dsp:txXfrm>
    </dsp:sp>
    <dsp:sp modelId="{28D855B3-3DD3-4000-8129-7193272CBB99}">
      <dsp:nvSpPr>
        <dsp:cNvPr id="6" name="Rounded Rectangle 5"/>
        <dsp:cNvSpPr/>
      </dsp:nvSpPr>
      <dsp:spPr bwMode="white">
        <a:xfrm>
          <a:off x="4148067" y="4153098"/>
          <a:ext cx="2530714" cy="126535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Step 3: Expert Inspects</a:t>
          </a:r>
          <a:r>
            <a:rPr lang="en-US" sz="1600"/>
            <a:t> </a:t>
          </a:r>
          <a:endParaRPr lang="en-US" sz="1600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/>
            <a:t>— Condition report: photos, checklist, rating</a:t>
          </a:r>
          <a:endParaRPr lang="en-US" sz="1600"/>
        </a:p>
      </dsp:txBody>
      <dsp:txXfrm>
        <a:off x="4148067" y="4153098"/>
        <a:ext cx="2530714" cy="1265357"/>
      </dsp:txXfrm>
    </dsp:sp>
    <dsp:sp modelId="{BDF9D8B2-8B45-43D0-8BAF-27565E824A5E}">
      <dsp:nvSpPr>
        <dsp:cNvPr id="7" name="Rounded Rectangle 6"/>
        <dsp:cNvSpPr/>
      </dsp:nvSpPr>
      <dsp:spPr bwMode="white">
        <a:xfrm>
          <a:off x="1449220" y="4153098"/>
          <a:ext cx="2530714" cy="126535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Step 4: Approved</a:t>
          </a:r>
          <a:endParaRPr lang="en-US" sz="1900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/>
            <a:t>— Item listed as Expert Verified</a:t>
          </a:r>
          <a:endParaRPr lang="en-US" sz="1600"/>
        </a:p>
      </dsp:txBody>
      <dsp:txXfrm>
        <a:off x="1449220" y="4153098"/>
        <a:ext cx="2530714" cy="1265357"/>
      </dsp:txXfrm>
    </dsp:sp>
    <dsp:sp modelId="{BFF1AEDD-3E7C-471E-AC6C-1F6B329BE939}">
      <dsp:nvSpPr>
        <dsp:cNvPr id="8" name="Rounded Rectangle 7"/>
        <dsp:cNvSpPr/>
      </dsp:nvSpPr>
      <dsp:spPr bwMode="white">
        <a:xfrm>
          <a:off x="615230" y="1586342"/>
          <a:ext cx="2530714" cy="126535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Step 5: Post-Rental</a:t>
          </a:r>
          <a:r>
            <a:rPr lang="en-US" sz="1600"/>
            <a:t> </a:t>
          </a:r>
          <a:endParaRPr lang="en-US" sz="1600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/>
            <a:t>— Same expert checks item on return</a:t>
          </a:r>
          <a:endParaRPr lang="en-US" sz="1600"/>
        </a:p>
      </dsp:txBody>
      <dsp:txXfrm>
        <a:off x="615230" y="1586342"/>
        <a:ext cx="2530714" cy="12653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CD7551-B0E4-43A6-A8A5-1419A62F9919}">
      <dsp:nvSpPr>
        <dsp:cNvPr id="0" name=""/>
        <dsp:cNvSpPr/>
      </dsp:nvSpPr>
      <dsp:spPr bwMode="white">
        <a:xfrm>
          <a:off x="0" y="40205"/>
          <a:ext cx="7216416" cy="83629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Represented By :</a:t>
          </a:r>
          <a:endParaRPr lang="en-US" sz="3600" kern="1200"/>
        </a:p>
      </dsp:txBody>
      <dsp:txXfrm>
        <a:off x="0" y="40205"/>
        <a:ext cx="7216416" cy="836295"/>
      </dsp:txXfrm>
    </dsp:sp>
    <dsp:sp modelId="{5302F716-2644-429A-8810-19A9F7E33450}">
      <dsp:nvSpPr>
        <dsp:cNvPr id="0" name=""/>
        <dsp:cNvSpPr/>
      </dsp:nvSpPr>
      <dsp:spPr bwMode="white">
        <a:xfrm>
          <a:off x="0" y="876500"/>
          <a:ext cx="7216416" cy="2811780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229121" tIns="41910" rIns="234696" bIns="4191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3600" b="1" kern="1200" dirty="0">
              <a:solidFill>
                <a:schemeClr val="tx1"/>
              </a:solidFill>
            </a:rPr>
            <a:t>Yasser Ashraf Mohammed</a:t>
          </a:r>
          <a:endParaRPr lang="en-US" sz="3600" kern="1200" dirty="0">
            <a:solidFill>
              <a:schemeClr val="tx1"/>
            </a:solidFill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1" kern="1200">
              <a:solidFill>
                <a:schemeClr val="tx1"/>
              </a:solidFill>
            </a:rPr>
            <a:t>Hamza Hussain Youssef</a:t>
          </a:r>
          <a:endParaRPr lang="en-US" sz="3600" kern="1200">
            <a:solidFill>
              <a:schemeClr val="tx1"/>
            </a:solidFill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1" kern="1200">
              <a:solidFill>
                <a:schemeClr val="tx1"/>
              </a:solidFill>
            </a:rPr>
            <a:t>Ahmad Khlifa Abdulraouf</a:t>
          </a:r>
          <a:endParaRPr lang="en-US" sz="3600" kern="1200">
            <a:solidFill>
              <a:schemeClr val="tx1"/>
            </a:solidFill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1" kern="1200" dirty="0">
              <a:solidFill>
                <a:schemeClr val="tx1"/>
              </a:solidFill>
            </a:rPr>
            <a:t>Moaz Moustafa Abdul Hamid</a:t>
          </a:r>
          <a:endParaRPr lang="en-US" sz="3600" kern="1200" dirty="0">
            <a:solidFill>
              <a:schemeClr val="tx1"/>
            </a:solidFill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1" kern="1200">
              <a:solidFill>
                <a:schemeClr val="tx1"/>
              </a:solidFill>
            </a:rPr>
            <a:t>Moamen Ahmed Mohammed</a:t>
          </a:r>
          <a:endParaRPr lang="en-US" sz="3600" kern="1200">
            <a:solidFill>
              <a:schemeClr val="tx1"/>
            </a:solidFill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1" kern="1200" dirty="0">
              <a:solidFill>
                <a:schemeClr val="tx1"/>
              </a:solidFill>
            </a:rPr>
            <a:t>Abdul Rahman Hesham Ragab</a:t>
          </a:r>
          <a:endParaRPr lang="en-US" sz="3600" kern="1200" dirty="0">
            <a:solidFill>
              <a:schemeClr val="tx1"/>
            </a:solidFill>
          </a:endParaRPr>
        </a:p>
      </dsp:txBody>
      <dsp:txXfrm>
        <a:off x="0" y="876500"/>
        <a:ext cx="7216416" cy="2811780"/>
      </dsp:txXfrm>
    </dsp:sp>
    <dsp:sp modelId="{7B6FA286-4A8D-4C73-B60F-8F2A83979DB3}">
      <dsp:nvSpPr>
        <dsp:cNvPr id="0" name=""/>
        <dsp:cNvSpPr/>
      </dsp:nvSpPr>
      <dsp:spPr bwMode="white">
        <a:xfrm>
          <a:off x="0" y="3688280"/>
          <a:ext cx="7216416" cy="836295"/>
        </a:xfrm>
        <a:prstGeom prst="roundRect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hemeClr val="lt1"/>
        </a:lnRef>
        <a:fillRef idx="1">
          <a:schemeClr val="accent2">
            <a:hueOff val="-2940000"/>
            <a:satOff val="14118"/>
            <a:lumOff val="1333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Supervised By</a:t>
          </a:r>
          <a:endParaRPr lang="en-US" sz="3600" kern="1200"/>
        </a:p>
      </dsp:txBody>
      <dsp:txXfrm>
        <a:off x="0" y="3688280"/>
        <a:ext cx="7216416" cy="836295"/>
      </dsp:txXfrm>
    </dsp:sp>
    <dsp:sp modelId="{40403CC3-41E4-4155-AAF2-599BD7E22D2A}">
      <dsp:nvSpPr>
        <dsp:cNvPr id="0" name=""/>
        <dsp:cNvSpPr/>
      </dsp:nvSpPr>
      <dsp:spPr bwMode="white">
        <a:xfrm>
          <a:off x="0" y="4524575"/>
          <a:ext cx="7216416" cy="546480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229121" tIns="41910" rIns="234696" bIns="4191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1" kern="1200">
              <a:solidFill>
                <a:schemeClr val="tx1"/>
              </a:solidFill>
            </a:rPr>
            <a:t>Dr Mohammed Khamis</a:t>
          </a:r>
          <a:endParaRPr lang="en-US" sz="3600" kern="1200">
            <a:solidFill>
              <a:schemeClr val="tx1"/>
            </a:solidFill>
          </a:endParaRPr>
        </a:p>
      </dsp:txBody>
      <dsp:txXfrm>
        <a:off x="0" y="4524575"/>
        <a:ext cx="7216416" cy="546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dstNode" val="node1"/>
                <dgm:param type="connRout" val="longCurve"/>
                <dgm:param type="begPts" val="midR"/>
                <dgm:param type="endPts" val="midL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dstNode" val="node1"/>
                <dgm:param type="connRout" val="longCurve"/>
                <dgm:param type="begPts" val="midL"/>
                <dgm:param type="endPts" val="midR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dstNode" val="nodeFirstNode"/>
                      <dgm:param type="connRout" val="longCurve"/>
                      <dgm:param type="begPts" val="midR"/>
                      <dgm:param type="endPts" val="midL"/>
                    </dgm:alg>
                  </dgm:if>
                  <dgm:else name="Name15">
                    <dgm:alg type="conn">
                      <dgm:param type="dstNode" val="nodeFirstNode"/>
                      <dgm:param type="connRout" val="longCurve"/>
                      <dgm:param type="begPts" val="midL"/>
                      <dgm:param type="endPts" val="midR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2C097-D66B-4370-A918-B75B02A6477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887E6-6026-4A26-A23B-F4FF53B2651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>
            <a:alpha val="2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74722"/>
            <a:chOff x="0" y="-8467"/>
            <a:chExt cx="12192000" cy="6874722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00BEAA">
                <a:alpha val="3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EAA">
                <a:alpha val="4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007C6F">
                <a:alpha val="7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212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EAA">
                <a:alpha val="3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00BEAA">
                <a:alpha val="4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EAA">
                <a:alpha val="6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00584E">
                <a:alpha val="39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rgbClr val="00BEAA">
                <a:alpha val="8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rgbClr val="00BEA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rgbClr val="00BEA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BEAA"/>
                </a:solidFill>
              </a:defRPr>
            </a:lvl1pPr>
          </a:lstStyle>
          <a:p>
            <a:fld id="{6444479B-705B-4489-957E-7E8A228BDFA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BEAA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BEAA"/>
                </a:solidFill>
              </a:defRPr>
            </a:lvl1pPr>
          </a:lstStyle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00BEAA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rgbClr val="00BEAA"/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00BEAA"/>
                </a:solidFill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rgbClr val="00BEAA"/>
              </a:solidFill>
              <a:latin typeface="Arial" panose="020B0604020202020204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00BEAA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rgbClr val="00BEAA"/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00BEAA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rgbClr val="00BEAA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00BEA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rgbClr val="00BEAA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00BEAA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BEAA"/>
                </a:solidFill>
              </a:defRPr>
            </a:lvl1pPr>
          </a:lstStyle>
          <a:p>
            <a:fld id="{7DA38F49-B3E2-4BF0-BEC7-C30D34ABBB8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BEAA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BEAA"/>
                </a:solidFill>
              </a:defRPr>
            </a:lvl1pPr>
          </a:lstStyle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905" y="-212"/>
            <a:ext cx="12193905" cy="6866467"/>
            <a:chOff x="-1905" y="-8467"/>
            <a:chExt cx="12193905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00BEAA">
                <a:alpha val="3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6F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007C6F">
                <a:alpha val="7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EAA">
                <a:alpha val="48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00BEAA">
                <a:alpha val="7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EAA">
                <a:alpha val="59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007C6F">
                <a:alpha val="4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-1905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rgbClr val="00BEAA"/>
            </a:solidFill>
            <a:ln>
              <a:solidFill>
                <a:srgbClr val="00BE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solidFill>
                  <a:srgbClr val="00BEAA"/>
                </a:solidFill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00BEAA"/>
                </a:solidFill>
              </a:defRPr>
            </a:lvl1pPr>
          </a:lstStyle>
          <a:p>
            <a:fld id="{7DA38F49-B3E2-4BF0-BEC7-C30D34ABBB8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00BEAA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00BEAA"/>
                </a:solidFill>
              </a:defRPr>
            </a:lvl1pPr>
          </a:lstStyle>
          <a:p>
            <a:fld id="{70C12960-6E85-460F-B6E3-5B82CB31AF3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00BEAA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rgbClr val="007C6F"/>
        </a:buClr>
        <a:buSzPct val="80000"/>
        <a:buFont typeface="Wingdings 3" panose="05040102010807070707" charset="2"/>
        <a:buChar char=""/>
        <a:defRPr sz="1800" kern="1200">
          <a:solidFill>
            <a:srgbClr val="00BEAA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rgbClr val="007C6F"/>
        </a:buClr>
        <a:buSzPct val="80000"/>
        <a:buFont typeface="Wingdings 3" panose="05040102010807070707" charset="2"/>
        <a:buChar char=""/>
        <a:defRPr sz="1600" kern="1200">
          <a:solidFill>
            <a:srgbClr val="00BEAA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rgbClr val="007C6F"/>
        </a:buClr>
        <a:buSzPct val="80000"/>
        <a:buFont typeface="Wingdings 3" panose="05040102010807070707" charset="2"/>
        <a:buChar char=""/>
        <a:defRPr sz="1400" kern="1200">
          <a:solidFill>
            <a:srgbClr val="00BEAA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rgbClr val="007C6F"/>
        </a:buClr>
        <a:buSzPct val="80000"/>
        <a:buFont typeface="Wingdings 3" panose="05040102010807070707" charset="2"/>
        <a:buChar char=""/>
        <a:defRPr sz="1200" kern="1200">
          <a:solidFill>
            <a:srgbClr val="00BEAA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rgbClr val="007C6F"/>
        </a:buClr>
        <a:buSzPct val="80000"/>
        <a:buFont typeface="Wingdings 3" panose="05040102010807070707" charset="2"/>
        <a:buChar char=""/>
        <a:defRPr sz="1200" kern="1200">
          <a:solidFill>
            <a:srgbClr val="00BEAA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logo for a rental company&#10;&#10;AI-generated content may be incorrect.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" r="-2" b="-2"/>
          <a:stretch>
            <a:fillRect/>
          </a:stretch>
        </p:blipFill>
        <p:spPr>
          <a:xfrm>
            <a:off x="4269854" y="-8256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820" y="552450"/>
            <a:ext cx="3841750" cy="170624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rgbClr val="00BEAA"/>
                </a:solidFill>
              </a:rPr>
              <a:t>Renty</a:t>
            </a:r>
            <a:br>
              <a:rPr lang="en-US" sz="4000" dirty="0">
                <a:solidFill>
                  <a:srgbClr val="00BEAA"/>
                </a:solidFill>
              </a:rPr>
            </a:br>
            <a:r>
              <a:rPr lang="en-US" sz="4000" dirty="0">
                <a:solidFill>
                  <a:srgbClr val="00BEAA"/>
                </a:solidFill>
              </a:rPr>
              <a:t>Intelligent P2P Rental Platform</a:t>
            </a:r>
            <a:br>
              <a:rPr lang="en-US" sz="4000" dirty="0">
                <a:solidFill>
                  <a:srgbClr val="00BEAA"/>
                </a:solidFill>
              </a:rPr>
            </a:br>
            <a:endParaRPr lang="en-US" sz="4000" dirty="0">
              <a:solidFill>
                <a:srgbClr val="00BEAA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594360" y="5077460"/>
            <a:ext cx="3673475" cy="1034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Supervised By:</a:t>
            </a:r>
            <a:endParaRPr lang="en-US" sz="2200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Prof. Dr. Mohamed Khamis</a:t>
            </a:r>
            <a:endParaRPr lang="en-US" sz="2200" b="1" dirty="0">
              <a:solidFill>
                <a:schemeClr val="accent2"/>
              </a:solidFill>
            </a:endParaRPr>
          </a:p>
          <a:p>
            <a:pPr marL="457200" lvl="1" indent="0">
              <a:buNone/>
            </a:pPr>
            <a:endParaRPr lang="en-US" sz="2200" b="1" dirty="0">
              <a:solidFill>
                <a:schemeClr val="accent2"/>
              </a:solidFill>
            </a:endParaRPr>
          </a:p>
        </p:txBody>
      </p:sp>
      <p:cxnSp>
        <p:nvCxnSpPr>
          <p:cNvPr id="33" name="Straight Connector 3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rgbClr val="00BEAA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007C6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Isosceles Tri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949478" y="3056255"/>
            <a:ext cx="3259667" cy="3810000"/>
          </a:xfrm>
          <a:prstGeom prst="triangle">
            <a:avLst>
              <a:gd name="adj" fmla="val 100000"/>
            </a:avLst>
          </a:prstGeom>
          <a:solidFill>
            <a:srgbClr val="00BEA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337675" y="-212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rgbClr val="00BEAA">
              <a:alpha val="4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Rectangle 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919050" y="-212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rgbClr val="007C6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Rect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959319" y="-212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7C6F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Isosceles Tri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391986" y="3598122"/>
            <a:ext cx="1817159" cy="3268133"/>
          </a:xfrm>
          <a:prstGeom prst="triangle">
            <a:avLst>
              <a:gd name="adj" fmla="val 100000"/>
            </a:avLst>
          </a:prstGeom>
          <a:solidFill>
            <a:srgbClr val="00584E">
              <a:alpha val="3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379730" y="3408045"/>
            <a:ext cx="24161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 b="1" i="1">
                <a:solidFill>
                  <a:schemeClr val="accent2"/>
                </a:solidFill>
                <a:effectLst/>
              </a:rPr>
              <a:t>Yasser Ashraf</a:t>
            </a:r>
            <a:endParaRPr lang="en-US" sz="2000" b="1" i="1">
              <a:solidFill>
                <a:schemeClr val="accent2"/>
              </a:solidFill>
              <a:effectLst/>
            </a:endParaRPr>
          </a:p>
          <a:p>
            <a:pPr algn="ctr"/>
            <a:r>
              <a:rPr lang="en-US" sz="2000" b="1" i="1">
                <a:solidFill>
                  <a:schemeClr val="accent2"/>
                </a:solidFill>
                <a:effectLst/>
              </a:rPr>
              <a:t>Ahmad Khlifa</a:t>
            </a:r>
            <a:endParaRPr lang="en-US" sz="2000" b="1" i="1">
              <a:solidFill>
                <a:schemeClr val="accent2"/>
              </a:solidFill>
              <a:effectLst/>
            </a:endParaRPr>
          </a:p>
          <a:p>
            <a:pPr algn="ctr"/>
            <a:r>
              <a:rPr lang="en-US" sz="2000" b="1" i="1">
                <a:solidFill>
                  <a:schemeClr val="accent2"/>
                </a:solidFill>
                <a:effectLst/>
              </a:rPr>
              <a:t>Moamen Ahmed</a:t>
            </a:r>
            <a:endParaRPr lang="en-US" sz="2000" b="1" i="1">
              <a:solidFill>
                <a:schemeClr val="accent2"/>
              </a:solidFill>
              <a:effectLst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914650" y="3408045"/>
            <a:ext cx="282892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sz="2000" b="1" i="1">
                <a:solidFill>
                  <a:schemeClr val="accent2"/>
                </a:solidFill>
                <a:sym typeface="+mn-ea"/>
              </a:rPr>
              <a:t>Hamza Hussain</a:t>
            </a:r>
            <a:endParaRPr lang="en-US" sz="2000" b="1" i="1">
              <a:solidFill>
                <a:schemeClr val="accent2"/>
              </a:solidFill>
            </a:endParaRPr>
          </a:p>
          <a:p>
            <a:pPr algn="ctr"/>
            <a:r>
              <a:rPr lang="en-US" sz="2000" b="1" i="1">
                <a:solidFill>
                  <a:schemeClr val="accent2"/>
                </a:solidFill>
                <a:sym typeface="+mn-ea"/>
              </a:rPr>
              <a:t>Moaz Moustafa</a:t>
            </a:r>
            <a:endParaRPr lang="en-US" sz="2000" b="1" i="1">
              <a:solidFill>
                <a:schemeClr val="accent2"/>
              </a:solidFill>
            </a:endParaRPr>
          </a:p>
          <a:p>
            <a:pPr algn="ctr"/>
            <a:r>
              <a:rPr lang="en-US" sz="2000" b="1" i="1">
                <a:solidFill>
                  <a:schemeClr val="accent2"/>
                </a:solidFill>
                <a:sym typeface="+mn-ea"/>
              </a:rPr>
              <a:t>AbdulRahman Hesham</a:t>
            </a:r>
            <a:endParaRPr lang="en-US" sz="2000" b="1" i="1">
              <a:solidFill>
                <a:schemeClr val="accent2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2700" y="4572001"/>
            <a:ext cx="12192000" cy="2285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33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8415" y="-8254"/>
            <a:ext cx="12192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/>
          <p:cNvGrpSpPr>
            <a:grpSpLocks noGrp="1" noRot="1" noChangeAspect="1" noMove="1" noResize="1" noUngrp="1"/>
          </p:cNvGrpSpPr>
          <p:nvPr/>
        </p:nvGrpSpPr>
        <p:grpSpPr>
          <a:xfrm>
            <a:off x="7425267" y="-8467"/>
            <a:ext cx="4766733" cy="6866467"/>
            <a:chOff x="7425267" y="-8467"/>
            <a:chExt cx="4766733" cy="6866467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rgbClr val="007C6F">
                <a:alpha val="3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EAA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00BEAA">
                <a:alpha val="72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EAA">
                <a:alpha val="7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007C6F">
                <a:alpha val="41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C6F">
                <a:alpha val="6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007C6F">
                <a:alpha val="8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044" y="4765972"/>
            <a:ext cx="8596668" cy="1320800"/>
          </a:xfrm>
        </p:spPr>
        <p:txBody>
          <a:bodyPr anchor="ctr">
            <a:normAutofit/>
          </a:bodyPr>
          <a:lstStyle/>
          <a:p>
            <a:r>
              <a:rPr lang="en-US" sz="4400">
                <a:solidFill>
                  <a:schemeClr val="bg1"/>
                </a:solidFill>
              </a:rPr>
              <a:t>Agenda</a:t>
            </a:r>
            <a:endParaRPr lang="en-US" sz="4400">
              <a:solidFill>
                <a:schemeClr val="bg1"/>
              </a:solidFill>
            </a:endParaRPr>
          </a:p>
        </p:txBody>
      </p:sp>
      <p:graphicFrame>
        <p:nvGraphicFramePr>
          <p:cNvPr id="4" name="Diagram 3"/>
          <p:cNvGraphicFramePr/>
          <p:nvPr/>
        </p:nvGraphicFramePr>
        <p:xfrm>
          <a:off x="2032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7325" y="2541270"/>
            <a:ext cx="12190730" cy="1320800"/>
          </a:xfrm>
        </p:spPr>
        <p:txBody>
          <a:bodyPr/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Problem Statement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555" y="325755"/>
            <a:ext cx="3727450" cy="627380"/>
          </a:xfrm>
        </p:spPr>
        <p:txBody>
          <a:bodyPr anchor="b"/>
          <a:lstStyle/>
          <a:p>
            <a:r>
              <a:rPr lang="en-US" sz="2800" b="1" u="sng" dirty="0"/>
              <a:t>Problem Statement</a:t>
            </a:r>
            <a:endParaRPr lang="en-US" sz="2800" b="1" dirty="0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952500" y="1179830"/>
            <a:ext cx="3103880" cy="62738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BEAA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b="1" dirty="0">
                <a:solidFill>
                  <a:srgbClr val="F5B446"/>
                </a:solidFill>
              </a:rPr>
              <a:t>Why This Matters</a:t>
            </a:r>
            <a:endParaRPr lang="en-US" sz="2400" b="1" dirty="0">
              <a:solidFill>
                <a:srgbClr val="F5B446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532765" y="1948815"/>
            <a:ext cx="3950335" cy="962025"/>
            <a:chOff x="6906" y="619"/>
            <a:chExt cx="7921" cy="1515"/>
          </a:xfrm>
        </p:grpSpPr>
        <p:grpSp>
          <p:nvGrpSpPr>
            <p:cNvPr id="8" name="Group 7"/>
            <p:cNvGrpSpPr/>
            <p:nvPr/>
          </p:nvGrpSpPr>
          <p:grpSpPr>
            <a:xfrm>
              <a:off x="6906" y="619"/>
              <a:ext cx="7920" cy="1440"/>
              <a:chOff x="6906" y="681"/>
              <a:chExt cx="7920" cy="1440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6906" y="681"/>
                <a:ext cx="7920" cy="1440"/>
              </a:xfrm>
              <a:prstGeom prst="roundRect">
                <a:avLst/>
              </a:prstGeom>
              <a:solidFill>
                <a:srgbClr val="0A959E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Rectangles 6"/>
              <p:cNvSpPr/>
              <p:nvPr/>
            </p:nvSpPr>
            <p:spPr>
              <a:xfrm>
                <a:off x="6906" y="681"/>
                <a:ext cx="220" cy="1440"/>
              </a:xfrm>
              <a:prstGeom prst="rect">
                <a:avLst/>
              </a:prstGeom>
              <a:solidFill>
                <a:srgbClr val="F5B4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sp>
          <p:nvSpPr>
            <p:cNvPr id="9" name="Text Box 8"/>
            <p:cNvSpPr txBox="1"/>
            <p:nvPr/>
          </p:nvSpPr>
          <p:spPr>
            <a:xfrm>
              <a:off x="7205" y="633"/>
              <a:ext cx="7622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sz="2000">
                  <a:solidFill>
                    <a:srgbClr val="E6F2FC"/>
                  </a:solidFill>
                </a:rPr>
                <a:t>Equipment is expensive to own </a:t>
              </a:r>
              <a:endParaRPr lang="en-US" sz="2000">
                <a:solidFill>
                  <a:srgbClr val="E6F2FC"/>
                </a:solidFill>
              </a:endParaRPr>
            </a:p>
            <a:p>
              <a:pPr algn="l"/>
              <a:r>
                <a:rPr lang="en-US">
                  <a:solidFill>
                    <a:srgbClr val="E6F2FC"/>
                  </a:solidFill>
                </a:rPr>
                <a:t>— A climbing set costs 4,000–10,000 EGP</a:t>
              </a:r>
              <a:endParaRPr lang="en-US">
                <a:solidFill>
                  <a:srgbClr val="E6F2FC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32765" y="5326380"/>
            <a:ext cx="3950970" cy="953135"/>
            <a:chOff x="6906" y="558"/>
            <a:chExt cx="7920" cy="1501"/>
          </a:xfrm>
        </p:grpSpPr>
        <p:grpSp>
          <p:nvGrpSpPr>
            <p:cNvPr id="15" name="Group 14"/>
            <p:cNvGrpSpPr/>
            <p:nvPr/>
          </p:nvGrpSpPr>
          <p:grpSpPr>
            <a:xfrm>
              <a:off x="6906" y="619"/>
              <a:ext cx="7920" cy="1440"/>
              <a:chOff x="6906" y="681"/>
              <a:chExt cx="7920" cy="1440"/>
            </a:xfrm>
          </p:grpSpPr>
          <p:sp>
            <p:nvSpPr>
              <p:cNvPr id="16" name="Rounded Rectangle 15"/>
              <p:cNvSpPr/>
              <p:nvPr/>
            </p:nvSpPr>
            <p:spPr>
              <a:xfrm>
                <a:off x="6906" y="681"/>
                <a:ext cx="7920" cy="1440"/>
              </a:xfrm>
              <a:prstGeom prst="roundRect">
                <a:avLst/>
              </a:prstGeom>
              <a:solidFill>
                <a:srgbClr val="0A959E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7" name="Rectangles 16"/>
              <p:cNvSpPr/>
              <p:nvPr/>
            </p:nvSpPr>
            <p:spPr>
              <a:xfrm>
                <a:off x="6906" y="681"/>
                <a:ext cx="220" cy="1440"/>
              </a:xfrm>
              <a:prstGeom prst="rect">
                <a:avLst/>
              </a:prstGeom>
              <a:solidFill>
                <a:srgbClr val="F5B4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sp>
          <p:nvSpPr>
            <p:cNvPr id="18" name="Text Box 17"/>
            <p:cNvSpPr txBox="1"/>
            <p:nvPr/>
          </p:nvSpPr>
          <p:spPr>
            <a:xfrm>
              <a:off x="7140" y="558"/>
              <a:ext cx="7436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sz="2000">
                  <a:solidFill>
                    <a:srgbClr val="E6F2FC"/>
                  </a:solidFill>
                </a:rPr>
                <a:t>Equipment sits idle </a:t>
              </a:r>
              <a:endParaRPr lang="en-US" sz="2000">
                <a:solidFill>
                  <a:srgbClr val="E6F2FC"/>
                </a:solidFill>
              </a:endParaRPr>
            </a:p>
            <a:p>
              <a:pPr algn="l"/>
              <a:r>
                <a:rPr lang="en-US">
                  <a:solidFill>
                    <a:srgbClr val="E6F2FC"/>
                  </a:solidFill>
                </a:rPr>
                <a:t>— Owners have gear collecting dust 80% of the year</a:t>
              </a:r>
              <a:endParaRPr lang="en-US">
                <a:solidFill>
                  <a:srgbClr val="E6F2FC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32765" y="3061335"/>
            <a:ext cx="4050030" cy="953135"/>
            <a:chOff x="6906" y="619"/>
            <a:chExt cx="8120" cy="1501"/>
          </a:xfrm>
        </p:grpSpPr>
        <p:grpSp>
          <p:nvGrpSpPr>
            <p:cNvPr id="20" name="Group 19"/>
            <p:cNvGrpSpPr/>
            <p:nvPr/>
          </p:nvGrpSpPr>
          <p:grpSpPr>
            <a:xfrm>
              <a:off x="6906" y="619"/>
              <a:ext cx="7920" cy="1440"/>
              <a:chOff x="6906" y="681"/>
              <a:chExt cx="7920" cy="1440"/>
            </a:xfrm>
          </p:grpSpPr>
          <p:sp>
            <p:nvSpPr>
              <p:cNvPr id="21" name="Rounded Rectangle 20"/>
              <p:cNvSpPr/>
              <p:nvPr/>
            </p:nvSpPr>
            <p:spPr>
              <a:xfrm>
                <a:off x="6906" y="681"/>
                <a:ext cx="7920" cy="1440"/>
              </a:xfrm>
              <a:prstGeom prst="roundRect">
                <a:avLst/>
              </a:prstGeom>
              <a:solidFill>
                <a:srgbClr val="0A959E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2" name="Rectangles 21"/>
              <p:cNvSpPr/>
              <p:nvPr/>
            </p:nvSpPr>
            <p:spPr>
              <a:xfrm>
                <a:off x="6906" y="681"/>
                <a:ext cx="220" cy="1440"/>
              </a:xfrm>
              <a:prstGeom prst="rect">
                <a:avLst/>
              </a:prstGeom>
              <a:solidFill>
                <a:srgbClr val="F5B4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sp>
          <p:nvSpPr>
            <p:cNvPr id="23" name="Text Box 22"/>
            <p:cNvSpPr txBox="1"/>
            <p:nvPr/>
          </p:nvSpPr>
          <p:spPr>
            <a:xfrm>
              <a:off x="7289" y="619"/>
              <a:ext cx="7737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2000">
                  <a:solidFill>
                    <a:srgbClr val="E6F2FC"/>
                  </a:solidFill>
                </a:rPr>
                <a:t>No trust between strangers </a:t>
              </a:r>
              <a:endParaRPr lang="en-US" sz="2000">
                <a:solidFill>
                  <a:srgbClr val="E6F2FC"/>
                </a:solidFill>
              </a:endParaRPr>
            </a:p>
            <a:p>
              <a:r>
                <a:rPr lang="en-US">
                  <a:solidFill>
                    <a:srgbClr val="E6F2FC"/>
                  </a:solidFill>
                </a:rPr>
                <a:t>— Cash deals on Facebook groups with zero protection</a:t>
              </a:r>
              <a:endParaRPr lang="en-US">
                <a:solidFill>
                  <a:srgbClr val="E6F2FC"/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32765" y="4173855"/>
            <a:ext cx="3950970" cy="953135"/>
            <a:chOff x="6906" y="619"/>
            <a:chExt cx="7920" cy="1501"/>
          </a:xfrm>
        </p:grpSpPr>
        <p:grpSp>
          <p:nvGrpSpPr>
            <p:cNvPr id="25" name="Group 24"/>
            <p:cNvGrpSpPr/>
            <p:nvPr/>
          </p:nvGrpSpPr>
          <p:grpSpPr>
            <a:xfrm>
              <a:off x="6906" y="619"/>
              <a:ext cx="7920" cy="1440"/>
              <a:chOff x="6906" y="681"/>
              <a:chExt cx="7920" cy="1440"/>
            </a:xfrm>
          </p:grpSpPr>
          <p:sp>
            <p:nvSpPr>
              <p:cNvPr id="26" name="Rounded Rectangle 25"/>
              <p:cNvSpPr/>
              <p:nvPr/>
            </p:nvSpPr>
            <p:spPr>
              <a:xfrm>
                <a:off x="6906" y="681"/>
                <a:ext cx="7920" cy="1440"/>
              </a:xfrm>
              <a:prstGeom prst="roundRect">
                <a:avLst/>
              </a:prstGeom>
              <a:solidFill>
                <a:srgbClr val="0A959E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7" name="Rectangles 26"/>
              <p:cNvSpPr/>
              <p:nvPr/>
            </p:nvSpPr>
            <p:spPr>
              <a:xfrm>
                <a:off x="6906" y="681"/>
                <a:ext cx="220" cy="1440"/>
              </a:xfrm>
              <a:prstGeom prst="rect">
                <a:avLst/>
              </a:prstGeom>
              <a:solidFill>
                <a:srgbClr val="F5B44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sp>
          <p:nvSpPr>
            <p:cNvPr id="28" name="Text Box 27"/>
            <p:cNvSpPr txBox="1"/>
            <p:nvPr/>
          </p:nvSpPr>
          <p:spPr>
            <a:xfrm>
              <a:off x="7155" y="619"/>
              <a:ext cx="7422" cy="1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sz="2000">
                  <a:solidFill>
                    <a:srgbClr val="E6F2FC"/>
                  </a:solidFill>
                </a:rPr>
                <a:t>Tourists can't travel with gear </a:t>
              </a:r>
              <a:endParaRPr lang="en-US" sz="2000">
                <a:solidFill>
                  <a:srgbClr val="E6F2FC"/>
                </a:solidFill>
              </a:endParaRPr>
            </a:p>
            <a:p>
              <a:pPr algn="l"/>
              <a:r>
                <a:rPr lang="en-US">
                  <a:solidFill>
                    <a:srgbClr val="E6F2FC"/>
                  </a:solidFill>
                </a:rPr>
                <a:t>— Sports tourists in Dahab, Sinai, Red Sea need local access</a:t>
              </a:r>
              <a:endParaRPr lang="en-US">
                <a:solidFill>
                  <a:srgbClr val="E6F2FC"/>
                </a:solidFill>
              </a:endParaRPr>
            </a:p>
          </p:txBody>
        </p:sp>
      </p:grpSp>
      <p:sp>
        <p:nvSpPr>
          <p:cNvPr id="3" name="Title 1"/>
          <p:cNvSpPr>
            <a:spLocks noGrp="1"/>
          </p:cNvSpPr>
          <p:nvPr/>
        </p:nvSpPr>
        <p:spPr>
          <a:xfrm>
            <a:off x="5638165" y="1172210"/>
            <a:ext cx="4448175" cy="62738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BEAA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800" b="1" u="sng" dirty="0"/>
              <a:t>No Solution Exists in EgyptNo Solution Exists in Egypt</a:t>
            </a:r>
            <a:endParaRPr lang="en-US" sz="2800" b="1" u="sng" dirty="0"/>
          </a:p>
        </p:txBody>
      </p:sp>
      <p:graphicFrame>
        <p:nvGraphicFramePr>
          <p:cNvPr id="4" name="Table 3"/>
          <p:cNvGraphicFramePr/>
          <p:nvPr/>
        </p:nvGraphicFramePr>
        <p:xfrm>
          <a:off x="4950460" y="2159635"/>
          <a:ext cx="6526530" cy="2994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0745"/>
                <a:gridCol w="1113155"/>
                <a:gridCol w="1631315"/>
                <a:gridCol w="1631315"/>
              </a:tblGrid>
              <a:tr h="748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Platform</a:t>
                      </a:r>
                      <a:endParaRPr lang="en-US"/>
                    </a:p>
                  </a:txBody>
                  <a:tcPr>
                    <a:solidFill>
                      <a:srgbClr val="0A95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Rental?</a:t>
                      </a:r>
                      <a:endParaRPr lang="en-US"/>
                    </a:p>
                  </a:txBody>
                  <a:tcPr>
                    <a:solidFill>
                      <a:srgbClr val="0A95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Trust?</a:t>
                      </a:r>
                      <a:endParaRPr lang="en-US"/>
                    </a:p>
                  </a:txBody>
                  <a:tcPr>
                    <a:solidFill>
                      <a:srgbClr val="0A959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Escrow?</a:t>
                      </a:r>
                      <a:endParaRPr lang="en-US"/>
                    </a:p>
                  </a:txBody>
                  <a:tcPr>
                    <a:solidFill>
                      <a:srgbClr val="0A959E"/>
                    </a:solidFill>
                  </a:tcPr>
                </a:tc>
              </a:tr>
              <a:tr h="7486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Dubizzle (OLX)</a:t>
                      </a:r>
                      <a:endParaRPr 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No</a:t>
                      </a:r>
                      <a:endParaRPr 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No</a:t>
                      </a:r>
                      <a:endParaRPr 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No</a:t>
                      </a:r>
                      <a:endParaRPr 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7486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Facebook(Groups)</a:t>
                      </a:r>
                      <a:endParaRPr lang="en-US"/>
                    </a:p>
                  </a:txBody>
                  <a:tcPr>
                    <a:solidFill>
                      <a:srgbClr val="E4FFF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No</a:t>
                      </a:r>
                      <a:endParaRPr lang="en-US"/>
                    </a:p>
                  </a:txBody>
                  <a:tcPr>
                    <a:solidFill>
                      <a:srgbClr val="E4FFF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No</a:t>
                      </a:r>
                      <a:endParaRPr lang="en-US"/>
                    </a:p>
                  </a:txBody>
                  <a:tcPr>
                    <a:solidFill>
                      <a:srgbClr val="E4FFFE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No</a:t>
                      </a:r>
                      <a:endParaRPr lang="en-US"/>
                    </a:p>
                  </a:txBody>
                  <a:tcPr>
                    <a:solidFill>
                      <a:srgbClr val="E4FFFE"/>
                    </a:solidFill>
                  </a:tcPr>
                </a:tc>
              </a:tr>
              <a:tr h="7486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1" i="1">
                          <a:solidFill>
                            <a:schemeClr val="tx1"/>
                          </a:solidFill>
                        </a:rPr>
                        <a:t>Renty</a:t>
                      </a:r>
                      <a:endParaRPr lang="en-US" b="1" i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1" i="1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b="1" i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1" i="1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b="1" i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b="1" i="1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b="1" i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" y="2551430"/>
            <a:ext cx="12190730" cy="1320800"/>
          </a:xfrm>
        </p:spPr>
        <p:txBody>
          <a:bodyPr/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Market Focus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25755"/>
            <a:ext cx="2986405" cy="627380"/>
          </a:xfrm>
        </p:spPr>
        <p:txBody>
          <a:bodyPr anchor="b"/>
          <a:lstStyle/>
          <a:p>
            <a:r>
              <a:rPr lang="en-US" sz="2800" b="1" dirty="0"/>
              <a:t>MARKET FOCUS</a:t>
            </a:r>
            <a:endParaRPr lang="en-US" sz="2800" b="1" dirty="0"/>
          </a:p>
        </p:txBody>
      </p:sp>
      <p:grpSp>
        <p:nvGrpSpPr>
          <p:cNvPr id="36" name="Group 35"/>
          <p:cNvGrpSpPr/>
          <p:nvPr/>
        </p:nvGrpSpPr>
        <p:grpSpPr>
          <a:xfrm>
            <a:off x="4267835" y="1139190"/>
            <a:ext cx="3525520" cy="3589020"/>
            <a:chOff x="6721" y="1794"/>
            <a:chExt cx="5552" cy="5652"/>
          </a:xfrm>
        </p:grpSpPr>
        <p:grpSp>
          <p:nvGrpSpPr>
            <p:cNvPr id="10" name="Group 9"/>
            <p:cNvGrpSpPr/>
            <p:nvPr/>
          </p:nvGrpSpPr>
          <p:grpSpPr>
            <a:xfrm>
              <a:off x="6721" y="1794"/>
              <a:ext cx="5552" cy="5652"/>
              <a:chOff x="6906" y="626"/>
              <a:chExt cx="7831" cy="5670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6906" y="626"/>
                <a:ext cx="7831" cy="5670"/>
              </a:xfrm>
              <a:prstGeom prst="roundRect">
                <a:avLst/>
              </a:prstGeom>
              <a:solidFill>
                <a:srgbClr val="0A959E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9" name="Text Box 8"/>
              <p:cNvSpPr txBox="1"/>
              <p:nvPr/>
            </p:nvSpPr>
            <p:spPr>
              <a:xfrm>
                <a:off x="6954" y="1979"/>
                <a:ext cx="7783" cy="4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342900" indent="-34290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50K+ active climbers in Egypt</a:t>
                </a:r>
                <a:endParaRPr lang="en-US" sz="20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342900" indent="-34290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High-value gear (500–2,000 EGP per item)</a:t>
                </a:r>
                <a:endParaRPr lang="en-US" sz="20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342900" indent="-34290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Seasonal peaks: Spring &amp; Fall</a:t>
                </a:r>
                <a:endParaRPr lang="en-US" sz="20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342900" indent="-34290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Strong communities (Cairo Rock Club)</a:t>
                </a:r>
                <a:endParaRPr lang="en-US" sz="20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9" name="Text Box 18"/>
            <p:cNvSpPr txBox="1"/>
            <p:nvPr/>
          </p:nvSpPr>
          <p:spPr>
            <a:xfrm>
              <a:off x="7323" y="2047"/>
              <a:ext cx="4348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3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Climbing</a:t>
              </a:r>
              <a:endPara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22275" y="1575435"/>
            <a:ext cx="3525520" cy="2468880"/>
            <a:chOff x="665" y="2481"/>
            <a:chExt cx="5552" cy="3888"/>
          </a:xfrm>
        </p:grpSpPr>
        <p:grpSp>
          <p:nvGrpSpPr>
            <p:cNvPr id="24" name="Group 23"/>
            <p:cNvGrpSpPr/>
            <p:nvPr/>
          </p:nvGrpSpPr>
          <p:grpSpPr>
            <a:xfrm>
              <a:off x="665" y="2481"/>
              <a:ext cx="5552" cy="3889"/>
              <a:chOff x="6906" y="626"/>
              <a:chExt cx="7831" cy="5670"/>
            </a:xfrm>
          </p:grpSpPr>
          <p:sp>
            <p:nvSpPr>
              <p:cNvPr id="25" name="Rounded Rectangle 24"/>
              <p:cNvSpPr/>
              <p:nvPr/>
            </p:nvSpPr>
            <p:spPr>
              <a:xfrm>
                <a:off x="6906" y="626"/>
                <a:ext cx="7831" cy="5670"/>
              </a:xfrm>
              <a:prstGeom prst="roundRect">
                <a:avLst/>
              </a:prstGeom>
              <a:solidFill>
                <a:srgbClr val="0A959E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6" name="Text Box 25"/>
              <p:cNvSpPr txBox="1"/>
              <p:nvPr/>
            </p:nvSpPr>
            <p:spPr>
              <a:xfrm>
                <a:off x="6954" y="2729"/>
                <a:ext cx="7783" cy="3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342900" indent="-34290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80K+ cyclists nationwide</a:t>
                </a:r>
                <a:endParaRPr lang="en-US" sz="20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342900" indent="-34290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High repeat rental potential (weekends)</a:t>
                </a:r>
                <a:endParaRPr lang="en-US" sz="20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342900" indent="-34290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Growing infrastructure</a:t>
                </a:r>
                <a:endParaRPr lang="en-US" sz="20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7" name="Text Box 26"/>
            <p:cNvSpPr txBox="1"/>
            <p:nvPr/>
          </p:nvSpPr>
          <p:spPr>
            <a:xfrm>
              <a:off x="1267" y="2716"/>
              <a:ext cx="4348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3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Cycling</a:t>
              </a:r>
              <a:endPara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8113395" y="1403454"/>
            <a:ext cx="3525520" cy="3060700"/>
            <a:chOff x="12777" y="2210"/>
            <a:chExt cx="5552" cy="4820"/>
          </a:xfrm>
        </p:grpSpPr>
        <p:grpSp>
          <p:nvGrpSpPr>
            <p:cNvPr id="28" name="Group 27"/>
            <p:cNvGrpSpPr/>
            <p:nvPr/>
          </p:nvGrpSpPr>
          <p:grpSpPr>
            <a:xfrm>
              <a:off x="12777" y="2210"/>
              <a:ext cx="5552" cy="4820"/>
              <a:chOff x="6906" y="631"/>
              <a:chExt cx="7831" cy="7617"/>
            </a:xfrm>
          </p:grpSpPr>
          <p:sp>
            <p:nvSpPr>
              <p:cNvPr id="29" name="Rounded Rectangle 28"/>
              <p:cNvSpPr/>
              <p:nvPr/>
            </p:nvSpPr>
            <p:spPr>
              <a:xfrm>
                <a:off x="6906" y="631"/>
                <a:ext cx="7831" cy="7617"/>
              </a:xfrm>
              <a:prstGeom prst="roundRect">
                <a:avLst/>
              </a:prstGeom>
              <a:solidFill>
                <a:srgbClr val="0A959E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30" name="Text Box 29"/>
              <p:cNvSpPr txBox="1"/>
              <p:nvPr/>
            </p:nvSpPr>
            <p:spPr>
              <a:xfrm>
                <a:off x="6954" y="2729"/>
                <a:ext cx="7783" cy="5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342900" indent="-34290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Red Sea, Dahab, Sinai coast</a:t>
                </a:r>
                <a:endParaRPr lang="en-US" sz="20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342900" indent="-34290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International sports tourism</a:t>
                </a:r>
                <a:endParaRPr lang="en-US" sz="20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342900" indent="-34290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Premium pricing possible</a:t>
                </a:r>
                <a:endParaRPr lang="en-US" sz="20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342900" indent="-342900" algn="l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Seasonal: Summer peak</a:t>
                </a:r>
                <a:endParaRPr lang="en-US" sz="20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31" name="Text Box 30"/>
            <p:cNvSpPr txBox="1"/>
            <p:nvPr/>
          </p:nvSpPr>
          <p:spPr>
            <a:xfrm>
              <a:off x="13396" y="2481"/>
              <a:ext cx="4348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3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Water Sports</a:t>
              </a:r>
              <a:endPara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904774" y="5408295"/>
            <a:ext cx="10123906" cy="1082121"/>
            <a:chOff x="6855" y="626"/>
            <a:chExt cx="7882" cy="6710"/>
          </a:xfrm>
        </p:grpSpPr>
        <p:sp>
          <p:nvSpPr>
            <p:cNvPr id="33" name="Rounded Rectangle 32"/>
            <p:cNvSpPr/>
            <p:nvPr/>
          </p:nvSpPr>
          <p:spPr>
            <a:xfrm>
              <a:off x="6906" y="626"/>
              <a:ext cx="7831" cy="6710"/>
            </a:xfrm>
            <a:prstGeom prst="roundRect">
              <a:avLst/>
            </a:prstGeom>
            <a:solidFill>
              <a:srgbClr val="066065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4" name="Text Box 33"/>
            <p:cNvSpPr txBox="1"/>
            <p:nvPr/>
          </p:nvSpPr>
          <p:spPr>
            <a:xfrm>
              <a:off x="6855" y="835"/>
              <a:ext cx="7831" cy="6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Font typeface="Arial" panose="020B0604020202020204" pitchFamily="34" charset="0"/>
                <a:buNone/>
              </a:pPr>
              <a:r>
                <a:rPr lang="en-US" sz="20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We focus on sports equipment first because: high item value = justified deposits, passionate communities = early adopters, seasonal demand = predictable revenue, and tourist market = English language justified</a:t>
              </a:r>
              <a:endParaRPr lang="en-US" sz="2000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" y="2551430"/>
            <a:ext cx="12190730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Business Model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609600"/>
            <a:ext cx="2776855" cy="51054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Business Model</a:t>
            </a:r>
            <a:endParaRPr lang="en-US" sz="2800" b="1" dirty="0"/>
          </a:p>
        </p:txBody>
      </p:sp>
      <p:grpSp>
        <p:nvGrpSpPr>
          <p:cNvPr id="9" name="Group 8"/>
          <p:cNvGrpSpPr/>
          <p:nvPr/>
        </p:nvGrpSpPr>
        <p:grpSpPr>
          <a:xfrm>
            <a:off x="422275" y="1541780"/>
            <a:ext cx="3529330" cy="2247265"/>
            <a:chOff x="665" y="2428"/>
            <a:chExt cx="5558" cy="3539"/>
          </a:xfrm>
        </p:grpSpPr>
        <p:grpSp>
          <p:nvGrpSpPr>
            <p:cNvPr id="35" name="Group 34"/>
            <p:cNvGrpSpPr/>
            <p:nvPr/>
          </p:nvGrpSpPr>
          <p:grpSpPr>
            <a:xfrm>
              <a:off x="665" y="2481"/>
              <a:ext cx="5552" cy="3486"/>
              <a:chOff x="665" y="2481"/>
              <a:chExt cx="5552" cy="3486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665" y="2481"/>
                <a:ext cx="5552" cy="3486"/>
                <a:chOff x="6906" y="626"/>
                <a:chExt cx="7831" cy="5082"/>
              </a:xfrm>
            </p:grpSpPr>
            <p:sp>
              <p:nvSpPr>
                <p:cNvPr id="25" name="Freeform 24"/>
                <p:cNvSpPr/>
                <p:nvPr/>
              </p:nvSpPr>
              <p:spPr>
                <a:xfrm rot="10800000">
                  <a:off x="6906" y="626"/>
                  <a:ext cx="7831" cy="5082"/>
                </a:xfrm>
                <a:custGeom>
                  <a:avLst/>
                  <a:gdLst>
                    <a:gd name="connsiteX0" fmla="*/ 1019 w 5552"/>
                    <a:gd name="connsiteY0" fmla="*/ 0 h 3486"/>
                    <a:gd name="connsiteX1" fmla="*/ 4536 w 5552"/>
                    <a:gd name="connsiteY1" fmla="*/ 0 h 3486"/>
                    <a:gd name="connsiteX2" fmla="*/ 5552 w 5552"/>
                    <a:gd name="connsiteY2" fmla="*/ 492 h 3486"/>
                    <a:gd name="connsiteX3" fmla="*/ 5552 w 5552"/>
                    <a:gd name="connsiteY3" fmla="*/ 3486 h 3486"/>
                    <a:gd name="connsiteX4" fmla="*/ 0 w 5552"/>
                    <a:gd name="connsiteY4" fmla="*/ 3486 h 3486"/>
                    <a:gd name="connsiteX5" fmla="*/ 0 w 5552"/>
                    <a:gd name="connsiteY5" fmla="*/ 492 h 3486"/>
                    <a:gd name="connsiteX6" fmla="*/ 1019 w 5552"/>
                    <a:gd name="connsiteY6" fmla="*/ 0 h 3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552" h="3486">
                      <a:moveTo>
                        <a:pt x="1019" y="0"/>
                      </a:moveTo>
                      <a:lnTo>
                        <a:pt x="4536" y="0"/>
                      </a:lnTo>
                      <a:cubicBezTo>
                        <a:pt x="4988" y="0"/>
                        <a:pt x="5552" y="161"/>
                        <a:pt x="5552" y="492"/>
                      </a:cubicBezTo>
                      <a:lnTo>
                        <a:pt x="5552" y="3486"/>
                      </a:lnTo>
                      <a:lnTo>
                        <a:pt x="0" y="3486"/>
                      </a:lnTo>
                      <a:lnTo>
                        <a:pt x="0" y="492"/>
                      </a:lnTo>
                      <a:cubicBezTo>
                        <a:pt x="0" y="161"/>
                        <a:pt x="567" y="0"/>
                        <a:pt x="1019" y="0"/>
                      </a:cubicBezTo>
                      <a:close/>
                    </a:path>
                  </a:pathLst>
                </a:custGeom>
                <a:solidFill>
                  <a:srgbClr val="0A959E"/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26" name="Text Box 25"/>
                <p:cNvSpPr txBox="1"/>
                <p:nvPr/>
              </p:nvSpPr>
              <p:spPr>
                <a:xfrm>
                  <a:off x="6954" y="3157"/>
                  <a:ext cx="7783" cy="20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indent="0" algn="ctr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1100"/>
                    </a:spcAft>
                    <a:buNone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15% of every rental fee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  <a:p>
                  <a:pPr indent="0" algn="ctr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Primary revenue (70%)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27" name="Text Box 26"/>
              <p:cNvSpPr txBox="1"/>
              <p:nvPr/>
            </p:nvSpPr>
            <p:spPr>
              <a:xfrm>
                <a:off x="1267" y="2716"/>
                <a:ext cx="4348" cy="1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28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Platform Commission</a:t>
                </a:r>
                <a:endPara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5" name="Rectangles 4"/>
            <p:cNvSpPr/>
            <p:nvPr/>
          </p:nvSpPr>
          <p:spPr>
            <a:xfrm>
              <a:off x="665" y="2428"/>
              <a:ext cx="5558" cy="288"/>
            </a:xfrm>
            <a:prstGeom prst="rect">
              <a:avLst/>
            </a:prstGeom>
            <a:solidFill>
              <a:srgbClr val="00BE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235450" y="1541780"/>
            <a:ext cx="3529330" cy="2247265"/>
            <a:chOff x="665" y="2428"/>
            <a:chExt cx="5558" cy="3539"/>
          </a:xfrm>
        </p:grpSpPr>
        <p:grpSp>
          <p:nvGrpSpPr>
            <p:cNvPr id="11" name="Group 10"/>
            <p:cNvGrpSpPr/>
            <p:nvPr/>
          </p:nvGrpSpPr>
          <p:grpSpPr>
            <a:xfrm>
              <a:off x="665" y="2481"/>
              <a:ext cx="5552" cy="3486"/>
              <a:chOff x="665" y="2481"/>
              <a:chExt cx="5552" cy="3486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665" y="2481"/>
                <a:ext cx="5552" cy="3486"/>
                <a:chOff x="6906" y="626"/>
                <a:chExt cx="7831" cy="5082"/>
              </a:xfrm>
            </p:grpSpPr>
            <p:sp>
              <p:nvSpPr>
                <p:cNvPr id="13" name="Freeform 12"/>
                <p:cNvSpPr/>
                <p:nvPr/>
              </p:nvSpPr>
              <p:spPr>
                <a:xfrm rot="10800000">
                  <a:off x="6906" y="626"/>
                  <a:ext cx="7831" cy="5082"/>
                </a:xfrm>
                <a:custGeom>
                  <a:avLst/>
                  <a:gdLst>
                    <a:gd name="connsiteX0" fmla="*/ 1019 w 5552"/>
                    <a:gd name="connsiteY0" fmla="*/ 0 h 3486"/>
                    <a:gd name="connsiteX1" fmla="*/ 4536 w 5552"/>
                    <a:gd name="connsiteY1" fmla="*/ 0 h 3486"/>
                    <a:gd name="connsiteX2" fmla="*/ 5552 w 5552"/>
                    <a:gd name="connsiteY2" fmla="*/ 492 h 3486"/>
                    <a:gd name="connsiteX3" fmla="*/ 5552 w 5552"/>
                    <a:gd name="connsiteY3" fmla="*/ 3486 h 3486"/>
                    <a:gd name="connsiteX4" fmla="*/ 0 w 5552"/>
                    <a:gd name="connsiteY4" fmla="*/ 3486 h 3486"/>
                    <a:gd name="connsiteX5" fmla="*/ 0 w 5552"/>
                    <a:gd name="connsiteY5" fmla="*/ 492 h 3486"/>
                    <a:gd name="connsiteX6" fmla="*/ 1019 w 5552"/>
                    <a:gd name="connsiteY6" fmla="*/ 0 h 3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552" h="3486">
                      <a:moveTo>
                        <a:pt x="1019" y="0"/>
                      </a:moveTo>
                      <a:lnTo>
                        <a:pt x="4536" y="0"/>
                      </a:lnTo>
                      <a:cubicBezTo>
                        <a:pt x="4988" y="0"/>
                        <a:pt x="5552" y="161"/>
                        <a:pt x="5552" y="492"/>
                      </a:cubicBezTo>
                      <a:lnTo>
                        <a:pt x="5552" y="3486"/>
                      </a:lnTo>
                      <a:lnTo>
                        <a:pt x="0" y="3486"/>
                      </a:lnTo>
                      <a:lnTo>
                        <a:pt x="0" y="492"/>
                      </a:lnTo>
                      <a:cubicBezTo>
                        <a:pt x="0" y="161"/>
                        <a:pt x="567" y="0"/>
                        <a:pt x="1019" y="0"/>
                      </a:cubicBezTo>
                      <a:close/>
                    </a:path>
                  </a:pathLst>
                </a:custGeom>
                <a:solidFill>
                  <a:srgbClr val="0A959E"/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14" name="Text Box 13"/>
                <p:cNvSpPr txBox="1"/>
                <p:nvPr/>
              </p:nvSpPr>
              <p:spPr>
                <a:xfrm>
                  <a:off x="6954" y="3157"/>
                  <a:ext cx="7783" cy="20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indent="0" algn="ctr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1100"/>
                    </a:spcAft>
                    <a:buNone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50–100 EGP per inspection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  <a:p>
                  <a:pPr indent="0" algn="ctr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Secondary revenue (20%)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15" name="Text Box 14"/>
              <p:cNvSpPr txBox="1"/>
              <p:nvPr/>
            </p:nvSpPr>
            <p:spPr>
              <a:xfrm>
                <a:off x="699" y="2716"/>
                <a:ext cx="5518" cy="1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28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Expert Verification Model</a:t>
                </a:r>
                <a:endPara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6" name="Rectangles 15"/>
            <p:cNvSpPr/>
            <p:nvPr/>
          </p:nvSpPr>
          <p:spPr>
            <a:xfrm>
              <a:off x="665" y="2428"/>
              <a:ext cx="5558" cy="288"/>
            </a:xfrm>
            <a:prstGeom prst="rect">
              <a:avLst/>
            </a:prstGeom>
            <a:solidFill>
              <a:srgbClr val="00BE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052435" y="1541780"/>
            <a:ext cx="3529330" cy="2247265"/>
            <a:chOff x="665" y="2428"/>
            <a:chExt cx="5558" cy="3539"/>
          </a:xfrm>
        </p:grpSpPr>
        <p:grpSp>
          <p:nvGrpSpPr>
            <p:cNvPr id="18" name="Group 17"/>
            <p:cNvGrpSpPr/>
            <p:nvPr/>
          </p:nvGrpSpPr>
          <p:grpSpPr>
            <a:xfrm>
              <a:off x="665" y="2481"/>
              <a:ext cx="5552" cy="3486"/>
              <a:chOff x="665" y="2481"/>
              <a:chExt cx="5552" cy="3486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665" y="2481"/>
                <a:ext cx="5552" cy="3486"/>
                <a:chOff x="6906" y="626"/>
                <a:chExt cx="7831" cy="5082"/>
              </a:xfrm>
            </p:grpSpPr>
            <p:sp>
              <p:nvSpPr>
                <p:cNvPr id="20" name="Freeform 19"/>
                <p:cNvSpPr/>
                <p:nvPr/>
              </p:nvSpPr>
              <p:spPr>
                <a:xfrm rot="10800000">
                  <a:off x="6906" y="626"/>
                  <a:ext cx="7831" cy="5082"/>
                </a:xfrm>
                <a:custGeom>
                  <a:avLst/>
                  <a:gdLst>
                    <a:gd name="connsiteX0" fmla="*/ 1019 w 5552"/>
                    <a:gd name="connsiteY0" fmla="*/ 0 h 3486"/>
                    <a:gd name="connsiteX1" fmla="*/ 4536 w 5552"/>
                    <a:gd name="connsiteY1" fmla="*/ 0 h 3486"/>
                    <a:gd name="connsiteX2" fmla="*/ 5552 w 5552"/>
                    <a:gd name="connsiteY2" fmla="*/ 492 h 3486"/>
                    <a:gd name="connsiteX3" fmla="*/ 5552 w 5552"/>
                    <a:gd name="connsiteY3" fmla="*/ 3486 h 3486"/>
                    <a:gd name="connsiteX4" fmla="*/ 0 w 5552"/>
                    <a:gd name="connsiteY4" fmla="*/ 3486 h 3486"/>
                    <a:gd name="connsiteX5" fmla="*/ 0 w 5552"/>
                    <a:gd name="connsiteY5" fmla="*/ 492 h 3486"/>
                    <a:gd name="connsiteX6" fmla="*/ 1019 w 5552"/>
                    <a:gd name="connsiteY6" fmla="*/ 0 h 3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552" h="3486">
                      <a:moveTo>
                        <a:pt x="1019" y="0"/>
                      </a:moveTo>
                      <a:lnTo>
                        <a:pt x="4536" y="0"/>
                      </a:lnTo>
                      <a:cubicBezTo>
                        <a:pt x="4988" y="0"/>
                        <a:pt x="5552" y="161"/>
                        <a:pt x="5552" y="492"/>
                      </a:cubicBezTo>
                      <a:lnTo>
                        <a:pt x="5552" y="3486"/>
                      </a:lnTo>
                      <a:lnTo>
                        <a:pt x="0" y="3486"/>
                      </a:lnTo>
                      <a:lnTo>
                        <a:pt x="0" y="492"/>
                      </a:lnTo>
                      <a:cubicBezTo>
                        <a:pt x="0" y="161"/>
                        <a:pt x="567" y="0"/>
                        <a:pt x="1019" y="0"/>
                      </a:cubicBezTo>
                      <a:close/>
                    </a:path>
                  </a:pathLst>
                </a:custGeom>
                <a:solidFill>
                  <a:srgbClr val="0A959E"/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21" name="Text Box 20"/>
                <p:cNvSpPr txBox="1"/>
                <p:nvPr/>
              </p:nvSpPr>
              <p:spPr>
                <a:xfrm>
                  <a:off x="6954" y="3157"/>
                  <a:ext cx="7783" cy="1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indent="0" algn="ctr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1–2% gateway margin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  <a:p>
                  <a:pPr indent="0" algn="ctr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Tertiary revenue (10%)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22" name="Text Box 21"/>
              <p:cNvSpPr txBox="1"/>
              <p:nvPr/>
            </p:nvSpPr>
            <p:spPr>
              <a:xfrm>
                <a:off x="699" y="2716"/>
                <a:ext cx="5518" cy="1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28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Payment </a:t>
                </a:r>
                <a:endPara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ctr"/>
                <a:r>
                  <a:rPr lang="en-US" sz="2800" b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Processing</a:t>
                </a:r>
                <a:endPara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3" name="Rectangles 22"/>
            <p:cNvSpPr/>
            <p:nvPr/>
          </p:nvSpPr>
          <p:spPr>
            <a:xfrm>
              <a:off x="665" y="2428"/>
              <a:ext cx="5558" cy="288"/>
            </a:xfrm>
            <a:prstGeom prst="rect">
              <a:avLst/>
            </a:prstGeom>
            <a:solidFill>
              <a:srgbClr val="00BE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44500" y="4935220"/>
            <a:ext cx="3009900" cy="949960"/>
            <a:chOff x="700" y="7772"/>
            <a:chExt cx="4740" cy="1496"/>
          </a:xfrm>
        </p:grpSpPr>
        <p:sp>
          <p:nvSpPr>
            <p:cNvPr id="29" name="Round Diagonal Corner Rectangle 28"/>
            <p:cNvSpPr/>
            <p:nvPr/>
          </p:nvSpPr>
          <p:spPr>
            <a:xfrm>
              <a:off x="700" y="7772"/>
              <a:ext cx="4739" cy="1496"/>
            </a:xfrm>
            <a:prstGeom prst="round2Diag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0" name="Text Box 29"/>
            <p:cNvSpPr txBox="1"/>
            <p:nvPr/>
          </p:nvSpPr>
          <p:spPr>
            <a:xfrm>
              <a:off x="700" y="8224"/>
              <a:ext cx="474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Renter Pays 1,400 EGP</a:t>
              </a:r>
              <a:endPara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7" name="Right Arrow 36"/>
          <p:cNvSpPr/>
          <p:nvPr/>
        </p:nvSpPr>
        <p:spPr>
          <a:xfrm>
            <a:off x="3578225" y="5280025"/>
            <a:ext cx="860425" cy="30607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38" name="Group 37"/>
          <p:cNvGrpSpPr/>
          <p:nvPr/>
        </p:nvGrpSpPr>
        <p:grpSpPr>
          <a:xfrm>
            <a:off x="4514215" y="4935220"/>
            <a:ext cx="2076450" cy="949960"/>
            <a:chOff x="700" y="7772"/>
            <a:chExt cx="4740" cy="1496"/>
          </a:xfrm>
        </p:grpSpPr>
        <p:sp>
          <p:nvSpPr>
            <p:cNvPr id="39" name="Round Diagonal Corner Rectangle 38"/>
            <p:cNvSpPr/>
            <p:nvPr/>
          </p:nvSpPr>
          <p:spPr>
            <a:xfrm>
              <a:off x="700" y="7772"/>
              <a:ext cx="4739" cy="1496"/>
            </a:xfrm>
            <a:prstGeom prst="round2Diag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0" name="Text Box 39"/>
            <p:cNvSpPr txBox="1"/>
            <p:nvPr/>
          </p:nvSpPr>
          <p:spPr>
            <a:xfrm>
              <a:off x="700" y="8224"/>
              <a:ext cx="474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RENTY Escrow</a:t>
              </a:r>
              <a:endPara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1" name="Right Arrow 40"/>
          <p:cNvSpPr/>
          <p:nvPr/>
        </p:nvSpPr>
        <p:spPr>
          <a:xfrm rot="19680000">
            <a:off x="6779260" y="4935220"/>
            <a:ext cx="594995" cy="30607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Right Arrow 41"/>
          <p:cNvSpPr/>
          <p:nvPr/>
        </p:nvSpPr>
        <p:spPr>
          <a:xfrm>
            <a:off x="6900545" y="5274310"/>
            <a:ext cx="860425" cy="30607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3" name="Right Arrow 42"/>
          <p:cNvSpPr/>
          <p:nvPr/>
        </p:nvSpPr>
        <p:spPr>
          <a:xfrm rot="2040000">
            <a:off x="6780530" y="5638165"/>
            <a:ext cx="589280" cy="30607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7640404" y="5006340"/>
            <a:ext cx="3042832" cy="706761"/>
            <a:chOff x="519" y="7772"/>
            <a:chExt cx="6946" cy="2229"/>
          </a:xfrm>
        </p:grpSpPr>
        <p:sp>
          <p:nvSpPr>
            <p:cNvPr id="48" name="Round Diagonal Corner Rectangle 47"/>
            <p:cNvSpPr/>
            <p:nvPr/>
          </p:nvSpPr>
          <p:spPr>
            <a:xfrm>
              <a:off x="878" y="7772"/>
              <a:ext cx="6184" cy="2221"/>
            </a:xfrm>
            <a:prstGeom prst="round2Diag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9" name="Text Box 48"/>
            <p:cNvSpPr txBox="1"/>
            <p:nvPr/>
          </p:nvSpPr>
          <p:spPr>
            <a:xfrm>
              <a:off x="519" y="7772"/>
              <a:ext cx="6946" cy="2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RENTY keeps 210 EGP (15%)</a:t>
              </a:r>
              <a:endPara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7089775" y="4069645"/>
            <a:ext cx="3251353" cy="720713"/>
            <a:chOff x="700" y="7936"/>
            <a:chExt cx="7422" cy="2273"/>
          </a:xfrm>
        </p:grpSpPr>
        <p:sp>
          <p:nvSpPr>
            <p:cNvPr id="54" name="Round Diagonal Corner Rectangle 53"/>
            <p:cNvSpPr/>
            <p:nvPr/>
          </p:nvSpPr>
          <p:spPr>
            <a:xfrm>
              <a:off x="1049" y="8092"/>
              <a:ext cx="6824" cy="2117"/>
            </a:xfrm>
            <a:prstGeom prst="round2Diag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5" name="Text Box 54"/>
            <p:cNvSpPr txBox="1"/>
            <p:nvPr/>
          </p:nvSpPr>
          <p:spPr>
            <a:xfrm>
              <a:off x="700" y="7936"/>
              <a:ext cx="7422" cy="22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Owner receives 1,190 EGP (85%)</a:t>
              </a:r>
              <a:endPara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7477125" y="5933489"/>
            <a:ext cx="2863850" cy="706836"/>
            <a:chOff x="700" y="7749"/>
            <a:chExt cx="6537" cy="2580"/>
          </a:xfrm>
        </p:grpSpPr>
        <p:sp>
          <p:nvSpPr>
            <p:cNvPr id="57" name="Round Diagonal Corner Rectangle 56"/>
            <p:cNvSpPr/>
            <p:nvPr/>
          </p:nvSpPr>
          <p:spPr>
            <a:xfrm>
              <a:off x="700" y="7772"/>
              <a:ext cx="6537" cy="2415"/>
            </a:xfrm>
            <a:prstGeom prst="round2Diag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8" name="Text Box 57"/>
            <p:cNvSpPr txBox="1"/>
            <p:nvPr/>
          </p:nvSpPr>
          <p:spPr>
            <a:xfrm>
              <a:off x="835" y="7749"/>
              <a:ext cx="6288" cy="2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Deposit 500 EGP returned after rental</a:t>
              </a:r>
              <a:endPara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" y="2551430"/>
            <a:ext cx="12190730" cy="1320800"/>
          </a:xfrm>
        </p:spPr>
        <p:txBody>
          <a:bodyPr>
            <a:normAutofit/>
          </a:bodyPr>
          <a:p>
            <a:pPr algn="ctr"/>
            <a:r>
              <a:rPr lang="en-US" altLang="ug-CN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Platform Features</a:t>
            </a:r>
            <a:endParaRPr lang="en-US" altLang="ug-CN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41630" y="461645"/>
            <a:ext cx="3162300" cy="510540"/>
          </a:xfrm>
        </p:spPr>
        <p:txBody>
          <a:bodyPr>
            <a:normAutofit fontScale="90000"/>
          </a:bodyPr>
          <a:p>
            <a:r>
              <a:rPr lang="en-US" sz="2800" b="1" dirty="0"/>
              <a:t>Platform Features</a:t>
            </a:r>
            <a:endParaRPr lang="en-US" sz="2800" b="1" dirty="0"/>
          </a:p>
        </p:txBody>
      </p:sp>
      <p:grpSp>
        <p:nvGrpSpPr>
          <p:cNvPr id="12" name="Group 11"/>
          <p:cNvGrpSpPr/>
          <p:nvPr/>
        </p:nvGrpSpPr>
        <p:grpSpPr>
          <a:xfrm>
            <a:off x="887730" y="1372870"/>
            <a:ext cx="2760980" cy="1463040"/>
            <a:chOff x="1398" y="2077"/>
            <a:chExt cx="4348" cy="2304"/>
          </a:xfrm>
        </p:grpSpPr>
        <p:sp>
          <p:nvSpPr>
            <p:cNvPr id="11" name="Rounded Rectangle 10"/>
            <p:cNvSpPr/>
            <p:nvPr/>
          </p:nvSpPr>
          <p:spPr>
            <a:xfrm>
              <a:off x="1556" y="2077"/>
              <a:ext cx="4032" cy="2304"/>
            </a:xfrm>
            <a:prstGeom prst="round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7" name="Text Box 26"/>
            <p:cNvSpPr txBox="1"/>
            <p:nvPr/>
          </p:nvSpPr>
          <p:spPr>
            <a:xfrm>
              <a:off x="1398" y="2117"/>
              <a:ext cx="43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Secure Rentals</a:t>
              </a:r>
              <a:endParaRPr lang="en-US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1556" y="2697"/>
              <a:ext cx="4033" cy="16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None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Escrow payments 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indent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+</a:t>
              </a:r>
              <a:endParaRPr lang="en-US" b="1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indent="0" algn="ctr">
                <a:lnSpc>
                  <a:spcPct val="100000"/>
                </a:lnSpc>
                <a:spcBef>
                  <a:spcPts val="400"/>
                </a:spcBef>
                <a:spcAft>
                  <a:spcPts val="1100"/>
                </a:spcAft>
                <a:buNone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deposit protection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930015" y="5046980"/>
            <a:ext cx="2760980" cy="1463040"/>
            <a:chOff x="1398" y="2077"/>
            <a:chExt cx="4348" cy="2304"/>
          </a:xfrm>
        </p:grpSpPr>
        <p:sp>
          <p:nvSpPr>
            <p:cNvPr id="14" name="Rounded Rectangle 13"/>
            <p:cNvSpPr/>
            <p:nvPr/>
          </p:nvSpPr>
          <p:spPr>
            <a:xfrm>
              <a:off x="1556" y="2077"/>
              <a:ext cx="4032" cy="2304"/>
            </a:xfrm>
            <a:prstGeom prst="round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5" name="Text Box 14"/>
            <p:cNvSpPr txBox="1"/>
            <p:nvPr/>
          </p:nvSpPr>
          <p:spPr>
            <a:xfrm>
              <a:off x="1398" y="2117"/>
              <a:ext cx="43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Admin Dashboard</a:t>
              </a:r>
              <a:endParaRPr lang="en-US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1556" y="2787"/>
              <a:ext cx="4033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00000"/>
                </a:lnSpc>
                <a:spcBef>
                  <a:spcPts val="400"/>
                </a:spcBef>
                <a:spcAft>
                  <a:spcPts val="1100"/>
                </a:spcAft>
                <a:buNone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KPIs, user management, moderation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975475" y="5021580"/>
            <a:ext cx="2760980" cy="1463040"/>
            <a:chOff x="1398" y="2077"/>
            <a:chExt cx="4348" cy="2304"/>
          </a:xfrm>
        </p:grpSpPr>
        <p:sp>
          <p:nvSpPr>
            <p:cNvPr id="18" name="Rounded Rectangle 17"/>
            <p:cNvSpPr/>
            <p:nvPr/>
          </p:nvSpPr>
          <p:spPr>
            <a:xfrm>
              <a:off x="1556" y="2077"/>
              <a:ext cx="4032" cy="2304"/>
            </a:xfrm>
            <a:prstGeom prst="round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" name="Text Box 18"/>
            <p:cNvSpPr txBox="1"/>
            <p:nvPr/>
          </p:nvSpPr>
          <p:spPr>
            <a:xfrm>
              <a:off x="1398" y="2117"/>
              <a:ext cx="43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Dispute Resolution</a:t>
              </a:r>
              <a:endParaRPr lang="en-US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Text Box 19"/>
            <p:cNvSpPr txBox="1"/>
            <p:nvPr/>
          </p:nvSpPr>
          <p:spPr>
            <a:xfrm>
              <a:off x="1556" y="2877"/>
              <a:ext cx="4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00000"/>
                </a:lnSpc>
                <a:spcBef>
                  <a:spcPts val="400"/>
                </a:spcBef>
                <a:spcAft>
                  <a:spcPts val="1100"/>
                </a:spcAft>
                <a:buNone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3-tier escalation system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931285" y="3209925"/>
            <a:ext cx="2760980" cy="1463040"/>
            <a:chOff x="1398" y="2077"/>
            <a:chExt cx="4348" cy="2304"/>
          </a:xfrm>
        </p:grpSpPr>
        <p:sp>
          <p:nvSpPr>
            <p:cNvPr id="22" name="Rounded Rectangle 21"/>
            <p:cNvSpPr/>
            <p:nvPr/>
          </p:nvSpPr>
          <p:spPr>
            <a:xfrm>
              <a:off x="1556" y="2077"/>
              <a:ext cx="4032" cy="2304"/>
            </a:xfrm>
            <a:prstGeom prst="round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1398" y="2117"/>
              <a:ext cx="43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Fraud Detection</a:t>
              </a:r>
              <a:endParaRPr lang="en-US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Text Box 23"/>
            <p:cNvSpPr txBox="1"/>
            <p:nvPr/>
          </p:nvSpPr>
          <p:spPr>
            <a:xfrm>
              <a:off x="1556" y="2982"/>
              <a:ext cx="4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00000"/>
                </a:lnSpc>
                <a:spcBef>
                  <a:spcPts val="400"/>
                </a:spcBef>
                <a:spcAft>
                  <a:spcPts val="1100"/>
                </a:spcAft>
                <a:buNone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Behavioral anomaly scoring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975475" y="3197225"/>
            <a:ext cx="2760980" cy="1463040"/>
            <a:chOff x="1398" y="2077"/>
            <a:chExt cx="4348" cy="2304"/>
          </a:xfrm>
        </p:grpSpPr>
        <p:sp>
          <p:nvSpPr>
            <p:cNvPr id="28" name="Rounded Rectangle 27"/>
            <p:cNvSpPr/>
            <p:nvPr/>
          </p:nvSpPr>
          <p:spPr>
            <a:xfrm>
              <a:off x="1556" y="2077"/>
              <a:ext cx="4032" cy="2304"/>
            </a:xfrm>
            <a:prstGeom prst="round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9" name="Text Box 28"/>
            <p:cNvSpPr txBox="1"/>
            <p:nvPr/>
          </p:nvSpPr>
          <p:spPr>
            <a:xfrm>
              <a:off x="1398" y="2117"/>
              <a:ext cx="43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Gap Analytics</a:t>
              </a:r>
              <a:endParaRPr lang="en-US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Text Box 29"/>
            <p:cNvSpPr txBox="1"/>
            <p:nvPr/>
          </p:nvSpPr>
          <p:spPr>
            <a:xfrm>
              <a:off x="1556" y="2952"/>
              <a:ext cx="4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00000"/>
                </a:lnSpc>
                <a:spcBef>
                  <a:spcPts val="400"/>
                </a:spcBef>
                <a:spcAft>
                  <a:spcPts val="1100"/>
                </a:spcAft>
                <a:buNone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Supply-demand intelligence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931920" y="1372870"/>
            <a:ext cx="2760980" cy="1463040"/>
            <a:chOff x="1398" y="2077"/>
            <a:chExt cx="4348" cy="2304"/>
          </a:xfrm>
        </p:grpSpPr>
        <p:sp>
          <p:nvSpPr>
            <p:cNvPr id="32" name="Rounded Rectangle 31"/>
            <p:cNvSpPr/>
            <p:nvPr/>
          </p:nvSpPr>
          <p:spPr>
            <a:xfrm>
              <a:off x="1556" y="2077"/>
              <a:ext cx="4032" cy="2304"/>
            </a:xfrm>
            <a:prstGeom prst="round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3" name="Text Box 32"/>
            <p:cNvSpPr txBox="1"/>
            <p:nvPr/>
          </p:nvSpPr>
          <p:spPr>
            <a:xfrm>
              <a:off x="1398" y="2117"/>
              <a:ext cx="43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Expert Verification</a:t>
              </a:r>
              <a:endParaRPr lang="en-US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" name="Text Box 33"/>
            <p:cNvSpPr txBox="1"/>
            <p:nvPr/>
          </p:nvSpPr>
          <p:spPr>
            <a:xfrm>
              <a:off x="1556" y="2937"/>
              <a:ext cx="4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00000"/>
                </a:lnSpc>
                <a:spcBef>
                  <a:spcPts val="400"/>
                </a:spcBef>
                <a:spcAft>
                  <a:spcPts val="1100"/>
                </a:spcAft>
                <a:buNone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Physical inspection at Renty Hubs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895465" y="1372870"/>
            <a:ext cx="2898775" cy="1463040"/>
            <a:chOff x="1271" y="2077"/>
            <a:chExt cx="4565" cy="2304"/>
          </a:xfrm>
        </p:grpSpPr>
        <p:sp>
          <p:nvSpPr>
            <p:cNvPr id="36" name="Rounded Rectangle 35"/>
            <p:cNvSpPr/>
            <p:nvPr/>
          </p:nvSpPr>
          <p:spPr>
            <a:xfrm>
              <a:off x="1556" y="2077"/>
              <a:ext cx="4032" cy="2304"/>
            </a:xfrm>
            <a:prstGeom prst="round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7" name="Text Box 36"/>
            <p:cNvSpPr txBox="1"/>
            <p:nvPr/>
          </p:nvSpPr>
          <p:spPr>
            <a:xfrm>
              <a:off x="1271" y="2117"/>
              <a:ext cx="456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16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Smart Recommendations</a:t>
              </a:r>
              <a:endParaRPr lang="en-US" sz="16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8" name="Text Box 37"/>
            <p:cNvSpPr txBox="1"/>
            <p:nvPr/>
          </p:nvSpPr>
          <p:spPr>
            <a:xfrm>
              <a:off x="1428" y="2906"/>
              <a:ext cx="4281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00000"/>
                </a:lnSpc>
                <a:spcBef>
                  <a:spcPts val="400"/>
                </a:spcBef>
                <a:spcAft>
                  <a:spcPts val="1100"/>
                </a:spcAft>
                <a:buNone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ML-powered personalized suggestions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887730" y="3222625"/>
            <a:ext cx="2760980" cy="1463040"/>
            <a:chOff x="1398" y="2077"/>
            <a:chExt cx="4348" cy="2304"/>
          </a:xfrm>
        </p:grpSpPr>
        <p:sp>
          <p:nvSpPr>
            <p:cNvPr id="40" name="Rounded Rectangle 39"/>
            <p:cNvSpPr/>
            <p:nvPr/>
          </p:nvSpPr>
          <p:spPr>
            <a:xfrm>
              <a:off x="1556" y="2077"/>
              <a:ext cx="4032" cy="2304"/>
            </a:xfrm>
            <a:prstGeom prst="round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1" name="Text Box 40"/>
            <p:cNvSpPr txBox="1"/>
            <p:nvPr/>
          </p:nvSpPr>
          <p:spPr>
            <a:xfrm>
              <a:off x="1398" y="2117"/>
              <a:ext cx="43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Real-time Chat</a:t>
              </a:r>
              <a:endParaRPr lang="en-US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Text Box 41"/>
            <p:cNvSpPr txBox="1"/>
            <p:nvPr/>
          </p:nvSpPr>
          <p:spPr>
            <a:xfrm>
              <a:off x="1556" y="2937"/>
              <a:ext cx="4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00000"/>
                </a:lnSpc>
                <a:spcBef>
                  <a:spcPts val="400"/>
                </a:spcBef>
                <a:spcAft>
                  <a:spcPts val="1100"/>
                </a:spcAft>
                <a:buNone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SignalR instant messaging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888365" y="5072380"/>
            <a:ext cx="2760980" cy="1463040"/>
            <a:chOff x="1398" y="2077"/>
            <a:chExt cx="4348" cy="2304"/>
          </a:xfrm>
        </p:grpSpPr>
        <p:sp>
          <p:nvSpPr>
            <p:cNvPr id="44" name="Rounded Rectangle 43"/>
            <p:cNvSpPr/>
            <p:nvPr/>
          </p:nvSpPr>
          <p:spPr>
            <a:xfrm>
              <a:off x="1556" y="2077"/>
              <a:ext cx="4032" cy="2304"/>
            </a:xfrm>
            <a:prstGeom prst="round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5" name="Text Box 44"/>
            <p:cNvSpPr txBox="1"/>
            <p:nvPr/>
          </p:nvSpPr>
          <p:spPr>
            <a:xfrm>
              <a:off x="1398" y="2117"/>
              <a:ext cx="43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Multi-platform</a:t>
              </a:r>
              <a:endParaRPr lang="en-US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" name="Text Box 45"/>
            <p:cNvSpPr txBox="1"/>
            <p:nvPr/>
          </p:nvSpPr>
          <p:spPr>
            <a:xfrm>
              <a:off x="1556" y="2892"/>
              <a:ext cx="403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0" algn="ctr">
                <a:lnSpc>
                  <a:spcPct val="100000"/>
                </a:lnSpc>
                <a:spcBef>
                  <a:spcPts val="400"/>
                </a:spcBef>
                <a:spcAft>
                  <a:spcPts val="1100"/>
                </a:spcAft>
                <a:buNone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Angular Web + Flutter Mobile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" y="2551430"/>
            <a:ext cx="12190730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How it works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/home/hamza/All Data To Transfer/VIF/Materials/Fourth Year/Graduation Project/2nd semester/renty/renty/Documentation/report/figure 25a.pngfigure 25a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9050" y="13970"/>
            <a:ext cx="12211050" cy="6816090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4770" y="236855"/>
            <a:ext cx="3162300" cy="510540"/>
          </a:xfrm>
        </p:spPr>
        <p:txBody>
          <a:bodyPr>
            <a:noAutofit/>
          </a:bodyPr>
          <a:p>
            <a:r>
              <a:rPr lang="en-US" sz="3200" b="1" dirty="0"/>
              <a:t>How it works</a:t>
            </a:r>
            <a:endParaRPr 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0" y="10160"/>
            <a:ext cx="12268200" cy="6847840"/>
            <a:chOff x="0" y="16"/>
            <a:chExt cx="19320" cy="10784"/>
          </a:xfrm>
        </p:grpSpPr>
        <p:pic>
          <p:nvPicPr>
            <p:cNvPr id="14" name="Picture 13" descr="figure 25b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16"/>
              <a:ext cx="19321" cy="10784"/>
            </a:xfrm>
            <a:prstGeom prst="rect">
              <a:avLst/>
            </a:prstGeom>
          </p:spPr>
        </p:pic>
        <p:sp>
          <p:nvSpPr>
            <p:cNvPr id="2" name="Oval 1"/>
            <p:cNvSpPr/>
            <p:nvPr/>
          </p:nvSpPr>
          <p:spPr>
            <a:xfrm>
              <a:off x="18369" y="9780"/>
              <a:ext cx="468" cy="515"/>
            </a:xfrm>
            <a:prstGeom prst="ellipse">
              <a:avLst/>
            </a:prstGeom>
            <a:solidFill>
              <a:srgbClr val="DCEE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" name="Oval 2"/>
            <p:cNvSpPr/>
            <p:nvPr/>
          </p:nvSpPr>
          <p:spPr>
            <a:xfrm>
              <a:off x="18008" y="9780"/>
              <a:ext cx="468" cy="515"/>
            </a:xfrm>
            <a:prstGeom prst="ellipse">
              <a:avLst/>
            </a:prstGeom>
            <a:solidFill>
              <a:srgbClr val="DCEE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18369" y="9733"/>
              <a:ext cx="282" cy="263"/>
            </a:xfrm>
            <a:prstGeom prst="ellipse">
              <a:avLst/>
            </a:prstGeom>
            <a:solidFill>
              <a:srgbClr val="DCEE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0" y="215265"/>
            <a:ext cx="3162300" cy="510540"/>
          </a:xfrm>
        </p:spPr>
        <p:txBody>
          <a:bodyPr>
            <a:noAutofit/>
          </a:bodyPr>
          <a:p>
            <a:r>
              <a:rPr lang="en-US" sz="2800" b="1" dirty="0"/>
              <a:t>How it works</a:t>
            </a:r>
            <a:endParaRPr lang="en-US"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" y="2551430"/>
            <a:ext cx="12190730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System Architecture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tGPT Image Jun 14, 2026, 03_43_18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7155"/>
            <a:ext cx="12192000" cy="6663690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0" y="139065"/>
            <a:ext cx="3616960" cy="510540"/>
          </a:xfrm>
        </p:spPr>
        <p:txBody>
          <a:bodyPr>
            <a:noAutofit/>
          </a:bodyPr>
          <a:p>
            <a:r>
              <a:rPr lang="en-US" sz="2400" b="1" dirty="0">
                <a:solidFill>
                  <a:schemeClr val="bg1"/>
                </a:solidFill>
              </a:rPr>
              <a:t>System Architecture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" y="2551430"/>
            <a:ext cx="12190730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Tech Stack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46075" y="179070"/>
            <a:ext cx="3616960" cy="510540"/>
          </a:xfrm>
        </p:spPr>
        <p:txBody>
          <a:bodyPr>
            <a:noAutofit/>
          </a:bodyPr>
          <a:p>
            <a:r>
              <a:rPr lang="en-US" sz="2400" b="1" dirty="0">
                <a:solidFill>
                  <a:schemeClr val="accent1"/>
                </a:solidFill>
              </a:rPr>
              <a:t>Tech Stack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225030" y="984885"/>
            <a:ext cx="2334260" cy="4219575"/>
            <a:chOff x="1496" y="1617"/>
            <a:chExt cx="3676" cy="6645"/>
          </a:xfrm>
        </p:grpSpPr>
        <p:sp>
          <p:nvSpPr>
            <p:cNvPr id="7" name="Freeform 6"/>
            <p:cNvSpPr/>
            <p:nvPr/>
          </p:nvSpPr>
          <p:spPr>
            <a:xfrm>
              <a:off x="1576" y="1680"/>
              <a:ext cx="3456" cy="6582"/>
            </a:xfrm>
            <a:custGeom>
              <a:avLst/>
              <a:gdLst>
                <a:gd name="connsiteX0" fmla="*/ 0 w 3456"/>
                <a:gd name="connsiteY0" fmla="*/ 390 h 6582"/>
                <a:gd name="connsiteX1" fmla="*/ 1101 w 3456"/>
                <a:gd name="connsiteY1" fmla="*/ 0 h 6582"/>
                <a:gd name="connsiteX2" fmla="*/ 2439 w 3456"/>
                <a:gd name="connsiteY2" fmla="*/ 15 h 6582"/>
                <a:gd name="connsiteX3" fmla="*/ 3456 w 3456"/>
                <a:gd name="connsiteY3" fmla="*/ 390 h 6582"/>
                <a:gd name="connsiteX4" fmla="*/ 3456 w 3456"/>
                <a:gd name="connsiteY4" fmla="*/ 6006 h 6582"/>
                <a:gd name="connsiteX5" fmla="*/ 2880 w 3456"/>
                <a:gd name="connsiteY5" fmla="*/ 6582 h 6582"/>
                <a:gd name="connsiteX6" fmla="*/ 576 w 3456"/>
                <a:gd name="connsiteY6" fmla="*/ 6582 h 6582"/>
                <a:gd name="connsiteX7" fmla="*/ 0 w 3456"/>
                <a:gd name="connsiteY7" fmla="*/ 6006 h 6582"/>
                <a:gd name="connsiteX8" fmla="*/ 0 w 3456"/>
                <a:gd name="connsiteY8" fmla="*/ 390 h 6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6" h="6582">
                  <a:moveTo>
                    <a:pt x="0" y="390"/>
                  </a:moveTo>
                  <a:cubicBezTo>
                    <a:pt x="0" y="72"/>
                    <a:pt x="783" y="0"/>
                    <a:pt x="1101" y="0"/>
                  </a:cubicBezTo>
                  <a:lnTo>
                    <a:pt x="2439" y="15"/>
                  </a:lnTo>
                  <a:cubicBezTo>
                    <a:pt x="2757" y="15"/>
                    <a:pt x="3456" y="72"/>
                    <a:pt x="3456" y="390"/>
                  </a:cubicBezTo>
                  <a:lnTo>
                    <a:pt x="3456" y="6006"/>
                  </a:lnTo>
                  <a:cubicBezTo>
                    <a:pt x="3456" y="6324"/>
                    <a:pt x="3198" y="6582"/>
                    <a:pt x="2880" y="6582"/>
                  </a:cubicBezTo>
                  <a:lnTo>
                    <a:pt x="576" y="6582"/>
                  </a:lnTo>
                  <a:cubicBezTo>
                    <a:pt x="258" y="6582"/>
                    <a:pt x="0" y="6324"/>
                    <a:pt x="0" y="6006"/>
                  </a:cubicBezTo>
                  <a:lnTo>
                    <a:pt x="0" y="390"/>
                  </a:lnTo>
                  <a:close/>
                </a:path>
              </a:pathLst>
            </a:cu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7" name="Text Box 26"/>
            <p:cNvSpPr txBox="1"/>
            <p:nvPr/>
          </p:nvSpPr>
          <p:spPr>
            <a:xfrm>
              <a:off x="1496" y="1938"/>
              <a:ext cx="344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0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Backend</a:t>
              </a:r>
              <a:endParaRPr lang="en-US" sz="20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1496" y="2512"/>
              <a:ext cx="3676" cy="57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ASP.NET Core 8.0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Entity Framework Core 8.0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MediatR 12 (CQRS)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FluentValidation 11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SignalR (WebSockets)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BCrypt.Net (Security)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Round Same Side Corner Rectangle 8"/>
            <p:cNvSpPr/>
            <p:nvPr/>
          </p:nvSpPr>
          <p:spPr>
            <a:xfrm>
              <a:off x="1573" y="1617"/>
              <a:ext cx="3456" cy="387"/>
            </a:xfrm>
            <a:prstGeom prst="round2Same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982720" y="984885"/>
            <a:ext cx="2334260" cy="2907030"/>
            <a:chOff x="1496" y="1617"/>
            <a:chExt cx="3676" cy="4578"/>
          </a:xfrm>
        </p:grpSpPr>
        <p:sp>
          <p:nvSpPr>
            <p:cNvPr id="13" name="Freeform 12"/>
            <p:cNvSpPr/>
            <p:nvPr/>
          </p:nvSpPr>
          <p:spPr>
            <a:xfrm>
              <a:off x="1576" y="1680"/>
              <a:ext cx="3456" cy="4515"/>
            </a:xfrm>
            <a:custGeom>
              <a:avLst/>
              <a:gdLst>
                <a:gd name="connsiteX0" fmla="*/ 0 w 3456"/>
                <a:gd name="connsiteY0" fmla="*/ 390 h 6582"/>
                <a:gd name="connsiteX1" fmla="*/ 1101 w 3456"/>
                <a:gd name="connsiteY1" fmla="*/ 0 h 6582"/>
                <a:gd name="connsiteX2" fmla="*/ 2439 w 3456"/>
                <a:gd name="connsiteY2" fmla="*/ 15 h 6582"/>
                <a:gd name="connsiteX3" fmla="*/ 3456 w 3456"/>
                <a:gd name="connsiteY3" fmla="*/ 390 h 6582"/>
                <a:gd name="connsiteX4" fmla="*/ 3456 w 3456"/>
                <a:gd name="connsiteY4" fmla="*/ 6006 h 6582"/>
                <a:gd name="connsiteX5" fmla="*/ 2880 w 3456"/>
                <a:gd name="connsiteY5" fmla="*/ 6582 h 6582"/>
                <a:gd name="connsiteX6" fmla="*/ 576 w 3456"/>
                <a:gd name="connsiteY6" fmla="*/ 6582 h 6582"/>
                <a:gd name="connsiteX7" fmla="*/ 0 w 3456"/>
                <a:gd name="connsiteY7" fmla="*/ 6006 h 6582"/>
                <a:gd name="connsiteX8" fmla="*/ 0 w 3456"/>
                <a:gd name="connsiteY8" fmla="*/ 390 h 6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6" h="6582">
                  <a:moveTo>
                    <a:pt x="0" y="390"/>
                  </a:moveTo>
                  <a:cubicBezTo>
                    <a:pt x="0" y="72"/>
                    <a:pt x="783" y="0"/>
                    <a:pt x="1101" y="0"/>
                  </a:cubicBezTo>
                  <a:lnTo>
                    <a:pt x="2439" y="15"/>
                  </a:lnTo>
                  <a:cubicBezTo>
                    <a:pt x="2757" y="15"/>
                    <a:pt x="3456" y="72"/>
                    <a:pt x="3456" y="390"/>
                  </a:cubicBezTo>
                  <a:lnTo>
                    <a:pt x="3456" y="6006"/>
                  </a:lnTo>
                  <a:cubicBezTo>
                    <a:pt x="3456" y="6324"/>
                    <a:pt x="3198" y="6582"/>
                    <a:pt x="2880" y="6582"/>
                  </a:cubicBezTo>
                  <a:lnTo>
                    <a:pt x="576" y="6582"/>
                  </a:lnTo>
                  <a:cubicBezTo>
                    <a:pt x="258" y="6582"/>
                    <a:pt x="0" y="6324"/>
                    <a:pt x="0" y="6006"/>
                  </a:cubicBezTo>
                  <a:lnTo>
                    <a:pt x="0" y="390"/>
                  </a:lnTo>
                  <a:close/>
                </a:path>
              </a:pathLst>
            </a:cu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4" name="Text Box 13"/>
            <p:cNvSpPr txBox="1"/>
            <p:nvPr/>
          </p:nvSpPr>
          <p:spPr>
            <a:xfrm>
              <a:off x="1496" y="1938"/>
              <a:ext cx="344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0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Frontend</a:t>
              </a:r>
              <a:endParaRPr lang="en-US" sz="20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 Box 14"/>
            <p:cNvSpPr txBox="1"/>
            <p:nvPr/>
          </p:nvSpPr>
          <p:spPr>
            <a:xfrm>
              <a:off x="1496" y="2512"/>
              <a:ext cx="3676" cy="36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Angular 19 (Web)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Flutter 3.x (Mobile)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Dart (Mobile language)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Chart.js (Visualization)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1573" y="1617"/>
              <a:ext cx="3456" cy="387"/>
            </a:xfrm>
            <a:prstGeom prst="round2Same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30885" y="984885"/>
            <a:ext cx="2343785" cy="2630170"/>
            <a:chOff x="1496" y="1617"/>
            <a:chExt cx="3676" cy="4142"/>
          </a:xfrm>
        </p:grpSpPr>
        <p:sp>
          <p:nvSpPr>
            <p:cNvPr id="18" name="Freeform 17"/>
            <p:cNvSpPr/>
            <p:nvPr/>
          </p:nvSpPr>
          <p:spPr>
            <a:xfrm>
              <a:off x="1576" y="1680"/>
              <a:ext cx="3456" cy="4079"/>
            </a:xfrm>
            <a:custGeom>
              <a:avLst/>
              <a:gdLst>
                <a:gd name="connsiteX0" fmla="*/ 0 w 3456"/>
                <a:gd name="connsiteY0" fmla="*/ 390 h 6582"/>
                <a:gd name="connsiteX1" fmla="*/ 1101 w 3456"/>
                <a:gd name="connsiteY1" fmla="*/ 0 h 6582"/>
                <a:gd name="connsiteX2" fmla="*/ 2439 w 3456"/>
                <a:gd name="connsiteY2" fmla="*/ 15 h 6582"/>
                <a:gd name="connsiteX3" fmla="*/ 3456 w 3456"/>
                <a:gd name="connsiteY3" fmla="*/ 390 h 6582"/>
                <a:gd name="connsiteX4" fmla="*/ 3456 w 3456"/>
                <a:gd name="connsiteY4" fmla="*/ 6006 h 6582"/>
                <a:gd name="connsiteX5" fmla="*/ 2880 w 3456"/>
                <a:gd name="connsiteY5" fmla="*/ 6582 h 6582"/>
                <a:gd name="connsiteX6" fmla="*/ 576 w 3456"/>
                <a:gd name="connsiteY6" fmla="*/ 6582 h 6582"/>
                <a:gd name="connsiteX7" fmla="*/ 0 w 3456"/>
                <a:gd name="connsiteY7" fmla="*/ 6006 h 6582"/>
                <a:gd name="connsiteX8" fmla="*/ 0 w 3456"/>
                <a:gd name="connsiteY8" fmla="*/ 390 h 6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6" h="6582">
                  <a:moveTo>
                    <a:pt x="0" y="390"/>
                  </a:moveTo>
                  <a:cubicBezTo>
                    <a:pt x="0" y="72"/>
                    <a:pt x="783" y="0"/>
                    <a:pt x="1101" y="0"/>
                  </a:cubicBezTo>
                  <a:lnTo>
                    <a:pt x="2439" y="15"/>
                  </a:lnTo>
                  <a:cubicBezTo>
                    <a:pt x="2757" y="15"/>
                    <a:pt x="3456" y="72"/>
                    <a:pt x="3456" y="390"/>
                  </a:cubicBezTo>
                  <a:lnTo>
                    <a:pt x="3456" y="6006"/>
                  </a:lnTo>
                  <a:cubicBezTo>
                    <a:pt x="3456" y="6324"/>
                    <a:pt x="3198" y="6582"/>
                    <a:pt x="2880" y="6582"/>
                  </a:cubicBezTo>
                  <a:lnTo>
                    <a:pt x="576" y="6582"/>
                  </a:lnTo>
                  <a:cubicBezTo>
                    <a:pt x="258" y="6582"/>
                    <a:pt x="0" y="6324"/>
                    <a:pt x="0" y="6006"/>
                  </a:cubicBezTo>
                  <a:lnTo>
                    <a:pt x="0" y="390"/>
                  </a:lnTo>
                  <a:close/>
                </a:path>
              </a:pathLst>
            </a:cu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" name="Text Box 18"/>
            <p:cNvSpPr txBox="1"/>
            <p:nvPr/>
          </p:nvSpPr>
          <p:spPr>
            <a:xfrm>
              <a:off x="1496" y="1938"/>
              <a:ext cx="344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0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ML / Analytics</a:t>
              </a:r>
              <a:endParaRPr lang="en-US" sz="20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Text Box 19"/>
            <p:cNvSpPr txBox="1"/>
            <p:nvPr/>
          </p:nvSpPr>
          <p:spPr>
            <a:xfrm>
              <a:off x="1496" y="2512"/>
              <a:ext cx="3676" cy="3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Python 3.11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LightFM 1.17 (RS)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scikit-learn 1.4 (Fraud)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pandas 2.2 (Gap Analysis)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Round Same Side Corner Rectangle 20"/>
            <p:cNvSpPr/>
            <p:nvPr/>
          </p:nvSpPr>
          <p:spPr>
            <a:xfrm>
              <a:off x="1573" y="1617"/>
              <a:ext cx="3456" cy="387"/>
            </a:xfrm>
            <a:prstGeom prst="round2Same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52475" y="3736975"/>
            <a:ext cx="2343785" cy="2630170"/>
            <a:chOff x="1496" y="1617"/>
            <a:chExt cx="3676" cy="4142"/>
          </a:xfrm>
        </p:grpSpPr>
        <p:sp>
          <p:nvSpPr>
            <p:cNvPr id="23" name="Freeform 22"/>
            <p:cNvSpPr/>
            <p:nvPr/>
          </p:nvSpPr>
          <p:spPr>
            <a:xfrm>
              <a:off x="1576" y="1680"/>
              <a:ext cx="3456" cy="4079"/>
            </a:xfrm>
            <a:custGeom>
              <a:avLst/>
              <a:gdLst>
                <a:gd name="connsiteX0" fmla="*/ 0 w 3456"/>
                <a:gd name="connsiteY0" fmla="*/ 390 h 6582"/>
                <a:gd name="connsiteX1" fmla="*/ 1101 w 3456"/>
                <a:gd name="connsiteY1" fmla="*/ 0 h 6582"/>
                <a:gd name="connsiteX2" fmla="*/ 2439 w 3456"/>
                <a:gd name="connsiteY2" fmla="*/ 15 h 6582"/>
                <a:gd name="connsiteX3" fmla="*/ 3456 w 3456"/>
                <a:gd name="connsiteY3" fmla="*/ 390 h 6582"/>
                <a:gd name="connsiteX4" fmla="*/ 3456 w 3456"/>
                <a:gd name="connsiteY4" fmla="*/ 6006 h 6582"/>
                <a:gd name="connsiteX5" fmla="*/ 2880 w 3456"/>
                <a:gd name="connsiteY5" fmla="*/ 6582 h 6582"/>
                <a:gd name="connsiteX6" fmla="*/ 576 w 3456"/>
                <a:gd name="connsiteY6" fmla="*/ 6582 h 6582"/>
                <a:gd name="connsiteX7" fmla="*/ 0 w 3456"/>
                <a:gd name="connsiteY7" fmla="*/ 6006 h 6582"/>
                <a:gd name="connsiteX8" fmla="*/ 0 w 3456"/>
                <a:gd name="connsiteY8" fmla="*/ 390 h 6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6" h="6582">
                  <a:moveTo>
                    <a:pt x="0" y="390"/>
                  </a:moveTo>
                  <a:cubicBezTo>
                    <a:pt x="0" y="72"/>
                    <a:pt x="783" y="0"/>
                    <a:pt x="1101" y="0"/>
                  </a:cubicBezTo>
                  <a:lnTo>
                    <a:pt x="2439" y="15"/>
                  </a:lnTo>
                  <a:cubicBezTo>
                    <a:pt x="2757" y="15"/>
                    <a:pt x="3456" y="72"/>
                    <a:pt x="3456" y="390"/>
                  </a:cubicBezTo>
                  <a:lnTo>
                    <a:pt x="3456" y="6006"/>
                  </a:lnTo>
                  <a:cubicBezTo>
                    <a:pt x="3456" y="6324"/>
                    <a:pt x="3198" y="6582"/>
                    <a:pt x="2880" y="6582"/>
                  </a:cubicBezTo>
                  <a:lnTo>
                    <a:pt x="576" y="6582"/>
                  </a:lnTo>
                  <a:cubicBezTo>
                    <a:pt x="258" y="6582"/>
                    <a:pt x="0" y="6324"/>
                    <a:pt x="0" y="6006"/>
                  </a:cubicBezTo>
                  <a:lnTo>
                    <a:pt x="0" y="390"/>
                  </a:lnTo>
                  <a:close/>
                </a:path>
              </a:pathLst>
            </a:cu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" name="Text Box 23"/>
            <p:cNvSpPr txBox="1"/>
            <p:nvPr/>
          </p:nvSpPr>
          <p:spPr>
            <a:xfrm>
              <a:off x="1496" y="1938"/>
              <a:ext cx="344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0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Infrastructure</a:t>
              </a:r>
              <a:endParaRPr lang="en-US" sz="20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1496" y="2512"/>
              <a:ext cx="3676" cy="3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PostgreSQL 16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Cloudinary (CDN)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Paymob (Payments)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JWT + RBAC (Auth)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Round Same Side Corner Rectangle 27"/>
            <p:cNvSpPr/>
            <p:nvPr/>
          </p:nvSpPr>
          <p:spPr>
            <a:xfrm>
              <a:off x="1573" y="1617"/>
              <a:ext cx="3456" cy="387"/>
            </a:xfrm>
            <a:prstGeom prst="round2Same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" y="2551430"/>
            <a:ext cx="12190730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Database Design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46075" y="179070"/>
            <a:ext cx="3616960" cy="510540"/>
          </a:xfrm>
        </p:spPr>
        <p:txBody>
          <a:bodyPr>
            <a:noAutofit/>
          </a:bodyPr>
          <a:p>
            <a:r>
              <a:rPr lang="en-US" sz="2400" b="1" dirty="0">
                <a:solidFill>
                  <a:schemeClr val="accent1"/>
                </a:solidFill>
              </a:rPr>
              <a:t>Database Design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pic>
        <p:nvPicPr>
          <p:cNvPr id="14" name="image27.png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2385" y="689610"/>
            <a:ext cx="12224385" cy="5739765"/>
          </a:xfrm>
          <a:prstGeom prst="rect">
            <a:avLst/>
          </a:prstGeom>
          <a:noFill/>
        </p:spPr>
      </p:pic>
      <p:sp>
        <p:nvSpPr>
          <p:cNvPr id="7" name="Text Box 6"/>
          <p:cNvSpPr txBox="1"/>
          <p:nvPr/>
        </p:nvSpPr>
        <p:spPr>
          <a:xfrm>
            <a:off x="5233035" y="6429375"/>
            <a:ext cx="6958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27 tables | 150+ columns | Full referential integrity</a:t>
            </a:r>
            <a:endParaRPr lang="en-US" sz="2000" b="1" i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7" grpId="0"/>
      <p:bldP spid="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56235" y="179070"/>
            <a:ext cx="3616960" cy="510540"/>
          </a:xfrm>
        </p:spPr>
        <p:txBody>
          <a:bodyPr>
            <a:noAutofit/>
          </a:bodyPr>
          <a:p>
            <a:r>
              <a:rPr lang="en-US" sz="2400" b="1" dirty="0">
                <a:solidFill>
                  <a:schemeClr val="accent1"/>
                </a:solidFill>
              </a:rPr>
              <a:t>Database Design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pic>
        <p:nvPicPr>
          <p:cNvPr id="15" name="image28.png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795" y="742950"/>
            <a:ext cx="12214225" cy="5734685"/>
          </a:xfrm>
          <a:prstGeom prst="rect">
            <a:avLst/>
          </a:prstGeom>
          <a:noFill/>
        </p:spPr>
      </p:pic>
      <p:sp>
        <p:nvSpPr>
          <p:cNvPr id="7" name="Text Box 6"/>
          <p:cNvSpPr txBox="1"/>
          <p:nvPr/>
        </p:nvSpPr>
        <p:spPr>
          <a:xfrm>
            <a:off x="5233035" y="6438900"/>
            <a:ext cx="6958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 i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27 tables | 150+ columns | Full referential integrity</a:t>
            </a:r>
            <a:endParaRPr lang="en-US" sz="2000" b="1" i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7" grpId="0"/>
      <p:bldP spid="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" y="2551430"/>
            <a:ext cx="12190730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Semester 1 Recap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56235" y="179070"/>
            <a:ext cx="3616960" cy="510540"/>
          </a:xfrm>
        </p:spPr>
        <p:txBody>
          <a:bodyPr>
            <a:noAutofit/>
          </a:bodyPr>
          <a:p>
            <a:r>
              <a:rPr lang="en-US" sz="2400" b="1" dirty="0">
                <a:solidFill>
                  <a:schemeClr val="accent1"/>
                </a:solidFill>
              </a:rPr>
              <a:t>Semester 1 Recap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340360" y="1623060"/>
            <a:ext cx="3531870" cy="3326344"/>
            <a:chOff x="6695" y="1820"/>
            <a:chExt cx="5562" cy="5238"/>
          </a:xfrm>
        </p:grpSpPr>
        <p:grpSp>
          <p:nvGrpSpPr>
            <p:cNvPr id="36" name="Group 35"/>
            <p:cNvGrpSpPr/>
            <p:nvPr/>
          </p:nvGrpSpPr>
          <p:grpSpPr>
            <a:xfrm>
              <a:off x="6695" y="1820"/>
              <a:ext cx="5562" cy="5238"/>
              <a:chOff x="6711" y="1788"/>
              <a:chExt cx="5562" cy="5238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6711" y="1788"/>
                <a:ext cx="5562" cy="5238"/>
                <a:chOff x="6892" y="620"/>
                <a:chExt cx="7845" cy="5255"/>
              </a:xfrm>
            </p:grpSpPr>
            <p:sp>
              <p:nvSpPr>
                <p:cNvPr id="8" name="Freeform 7"/>
                <p:cNvSpPr/>
                <p:nvPr/>
              </p:nvSpPr>
              <p:spPr>
                <a:xfrm>
                  <a:off x="6892" y="620"/>
                  <a:ext cx="7845" cy="5255"/>
                </a:xfrm>
                <a:custGeom>
                  <a:avLst/>
                  <a:gdLst>
                    <a:gd name="connsiteX0" fmla="*/ 10 w 5561"/>
                    <a:gd name="connsiteY0" fmla="*/ 878 h 5238"/>
                    <a:gd name="connsiteX1" fmla="*/ 386 w 5561"/>
                    <a:gd name="connsiteY1" fmla="*/ 0 h 5238"/>
                    <a:gd name="connsiteX2" fmla="*/ 4690 w 5561"/>
                    <a:gd name="connsiteY2" fmla="*/ 6 h 5238"/>
                    <a:gd name="connsiteX3" fmla="*/ 5562 w 5561"/>
                    <a:gd name="connsiteY3" fmla="*/ 878 h 5238"/>
                    <a:gd name="connsiteX4" fmla="*/ 5562 w 5561"/>
                    <a:gd name="connsiteY4" fmla="*/ 4366 h 5238"/>
                    <a:gd name="connsiteX5" fmla="*/ 4690 w 5561"/>
                    <a:gd name="connsiteY5" fmla="*/ 5238 h 5238"/>
                    <a:gd name="connsiteX6" fmla="*/ 479 w 5561"/>
                    <a:gd name="connsiteY6" fmla="*/ 5228 h 5238"/>
                    <a:gd name="connsiteX7" fmla="*/ 10 w 5561"/>
                    <a:gd name="connsiteY7" fmla="*/ 4366 h 5238"/>
                    <a:gd name="connsiteX8" fmla="*/ 10 w 5561"/>
                    <a:gd name="connsiteY8" fmla="*/ 878 h 5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562" h="5238">
                      <a:moveTo>
                        <a:pt x="10" y="878"/>
                      </a:moveTo>
                      <a:cubicBezTo>
                        <a:pt x="10" y="396"/>
                        <a:pt x="-96" y="0"/>
                        <a:pt x="386" y="0"/>
                      </a:cubicBezTo>
                      <a:lnTo>
                        <a:pt x="4690" y="6"/>
                      </a:lnTo>
                      <a:cubicBezTo>
                        <a:pt x="5172" y="6"/>
                        <a:pt x="5562" y="396"/>
                        <a:pt x="5562" y="878"/>
                      </a:cubicBezTo>
                      <a:lnTo>
                        <a:pt x="5562" y="4366"/>
                      </a:lnTo>
                      <a:cubicBezTo>
                        <a:pt x="5562" y="4848"/>
                        <a:pt x="5172" y="5238"/>
                        <a:pt x="4690" y="5238"/>
                      </a:cubicBezTo>
                      <a:lnTo>
                        <a:pt x="479" y="5228"/>
                      </a:lnTo>
                      <a:cubicBezTo>
                        <a:pt x="-3" y="5228"/>
                        <a:pt x="10" y="4848"/>
                        <a:pt x="10" y="4366"/>
                      </a:cubicBezTo>
                      <a:lnTo>
                        <a:pt x="10" y="878"/>
                      </a:lnTo>
                      <a:close/>
                    </a:path>
                  </a:pathLst>
                </a:custGeom>
                <a:solidFill>
                  <a:srgbClr val="0A959E"/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11" name="Text Box 10"/>
                <p:cNvSpPr txBox="1"/>
                <p:nvPr/>
              </p:nvSpPr>
              <p:spPr>
                <a:xfrm>
                  <a:off x="7731" y="1829"/>
                  <a:ext cx="7006" cy="37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marL="342900" indent="-34290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Supply-demand scoring pipeline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  <a:p>
                  <a:pPr marL="342900" indent="-34290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4 severity tiers (Low to Critical)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  <a:p>
                  <a:pPr marL="342900" indent="-34290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Weekly batch processing for trend tracking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19" name="Text Box 18"/>
              <p:cNvSpPr txBox="1"/>
              <p:nvPr/>
            </p:nvSpPr>
            <p:spPr>
              <a:xfrm>
                <a:off x="7323" y="2047"/>
                <a:ext cx="4348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2400" b="1" i="1" u="sng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Gap Analysis</a:t>
                </a:r>
                <a:endParaRPr lang="en-US" sz="24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2" name="Rectangles 11"/>
            <p:cNvSpPr/>
            <p:nvPr/>
          </p:nvSpPr>
          <p:spPr>
            <a:xfrm>
              <a:off x="6695" y="1820"/>
              <a:ext cx="358" cy="5238"/>
            </a:xfrm>
            <a:prstGeom prst="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182745" y="670560"/>
            <a:ext cx="3531870" cy="3326130"/>
            <a:chOff x="6695" y="1820"/>
            <a:chExt cx="5562" cy="5238"/>
          </a:xfrm>
        </p:grpSpPr>
        <p:grpSp>
          <p:nvGrpSpPr>
            <p:cNvPr id="15" name="Group 14"/>
            <p:cNvGrpSpPr/>
            <p:nvPr/>
          </p:nvGrpSpPr>
          <p:grpSpPr>
            <a:xfrm>
              <a:off x="6695" y="1820"/>
              <a:ext cx="5562" cy="5238"/>
              <a:chOff x="6711" y="1788"/>
              <a:chExt cx="5562" cy="5238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6711" y="1788"/>
                <a:ext cx="5562" cy="5238"/>
                <a:chOff x="6892" y="620"/>
                <a:chExt cx="7845" cy="5255"/>
              </a:xfrm>
            </p:grpSpPr>
            <p:sp>
              <p:nvSpPr>
                <p:cNvPr id="17" name="Freeform 16"/>
                <p:cNvSpPr/>
                <p:nvPr/>
              </p:nvSpPr>
              <p:spPr>
                <a:xfrm>
                  <a:off x="6892" y="620"/>
                  <a:ext cx="7845" cy="5255"/>
                </a:xfrm>
                <a:custGeom>
                  <a:avLst/>
                  <a:gdLst>
                    <a:gd name="connsiteX0" fmla="*/ 10 w 5561"/>
                    <a:gd name="connsiteY0" fmla="*/ 878 h 5238"/>
                    <a:gd name="connsiteX1" fmla="*/ 386 w 5561"/>
                    <a:gd name="connsiteY1" fmla="*/ 0 h 5238"/>
                    <a:gd name="connsiteX2" fmla="*/ 4690 w 5561"/>
                    <a:gd name="connsiteY2" fmla="*/ 6 h 5238"/>
                    <a:gd name="connsiteX3" fmla="*/ 5562 w 5561"/>
                    <a:gd name="connsiteY3" fmla="*/ 878 h 5238"/>
                    <a:gd name="connsiteX4" fmla="*/ 5562 w 5561"/>
                    <a:gd name="connsiteY4" fmla="*/ 4366 h 5238"/>
                    <a:gd name="connsiteX5" fmla="*/ 4690 w 5561"/>
                    <a:gd name="connsiteY5" fmla="*/ 5238 h 5238"/>
                    <a:gd name="connsiteX6" fmla="*/ 479 w 5561"/>
                    <a:gd name="connsiteY6" fmla="*/ 5228 h 5238"/>
                    <a:gd name="connsiteX7" fmla="*/ 10 w 5561"/>
                    <a:gd name="connsiteY7" fmla="*/ 4366 h 5238"/>
                    <a:gd name="connsiteX8" fmla="*/ 10 w 5561"/>
                    <a:gd name="connsiteY8" fmla="*/ 878 h 5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562" h="5238">
                      <a:moveTo>
                        <a:pt x="10" y="878"/>
                      </a:moveTo>
                      <a:cubicBezTo>
                        <a:pt x="10" y="396"/>
                        <a:pt x="-96" y="0"/>
                        <a:pt x="386" y="0"/>
                      </a:cubicBezTo>
                      <a:lnTo>
                        <a:pt x="4690" y="6"/>
                      </a:lnTo>
                      <a:cubicBezTo>
                        <a:pt x="5172" y="6"/>
                        <a:pt x="5562" y="396"/>
                        <a:pt x="5562" y="878"/>
                      </a:cubicBezTo>
                      <a:lnTo>
                        <a:pt x="5562" y="4366"/>
                      </a:lnTo>
                      <a:cubicBezTo>
                        <a:pt x="5562" y="4848"/>
                        <a:pt x="5172" y="5238"/>
                        <a:pt x="4690" y="5238"/>
                      </a:cubicBezTo>
                      <a:lnTo>
                        <a:pt x="479" y="5228"/>
                      </a:lnTo>
                      <a:cubicBezTo>
                        <a:pt x="-3" y="5228"/>
                        <a:pt x="10" y="4848"/>
                        <a:pt x="10" y="4366"/>
                      </a:cubicBezTo>
                      <a:lnTo>
                        <a:pt x="10" y="878"/>
                      </a:lnTo>
                      <a:close/>
                    </a:path>
                  </a:pathLst>
                </a:custGeom>
                <a:solidFill>
                  <a:srgbClr val="0A959E"/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18" name="Text Box 17"/>
                <p:cNvSpPr txBox="1"/>
                <p:nvPr/>
              </p:nvSpPr>
              <p:spPr>
                <a:xfrm>
                  <a:off x="7731" y="2204"/>
                  <a:ext cx="7006" cy="3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marL="342900" indent="-34290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Hybrid collaborative filtering using LightFM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  <a:p>
                  <a:pPr marL="342900" indent="-34290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Trained on 55,666 transactions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  <a:p>
                  <a:pPr marL="342900" indent="-34290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Achieved 0.8421 AUC (+12.3% vs baseline)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20" name="Text Box 19"/>
              <p:cNvSpPr txBox="1"/>
              <p:nvPr/>
            </p:nvSpPr>
            <p:spPr>
              <a:xfrm>
                <a:off x="7066" y="1897"/>
                <a:ext cx="4852" cy="1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2400" b="1" i="1" u="sng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Recommendation System</a:t>
                </a:r>
                <a:endParaRPr lang="en-US" sz="24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1" name="Rectangles 20"/>
            <p:cNvSpPr/>
            <p:nvPr/>
          </p:nvSpPr>
          <p:spPr>
            <a:xfrm>
              <a:off x="6695" y="1820"/>
              <a:ext cx="358" cy="5238"/>
            </a:xfrm>
            <a:prstGeom prst="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025130" y="1623060"/>
            <a:ext cx="3531870" cy="3326763"/>
            <a:chOff x="6695" y="1820"/>
            <a:chExt cx="5562" cy="5239"/>
          </a:xfrm>
        </p:grpSpPr>
        <p:grpSp>
          <p:nvGrpSpPr>
            <p:cNvPr id="23" name="Group 22"/>
            <p:cNvGrpSpPr/>
            <p:nvPr/>
          </p:nvGrpSpPr>
          <p:grpSpPr>
            <a:xfrm>
              <a:off x="6695" y="1820"/>
              <a:ext cx="5562" cy="5239"/>
              <a:chOff x="6711" y="1788"/>
              <a:chExt cx="5562" cy="5239"/>
            </a:xfrm>
          </p:grpSpPr>
          <p:grpSp>
            <p:nvGrpSpPr>
              <p:cNvPr id="24" name="Group 23"/>
              <p:cNvGrpSpPr/>
              <p:nvPr/>
            </p:nvGrpSpPr>
            <p:grpSpPr>
              <a:xfrm>
                <a:off x="6711" y="1788"/>
                <a:ext cx="5562" cy="5239"/>
                <a:chOff x="6892" y="620"/>
                <a:chExt cx="7845" cy="5256"/>
              </a:xfrm>
            </p:grpSpPr>
            <p:sp>
              <p:nvSpPr>
                <p:cNvPr id="25" name="Freeform 24"/>
                <p:cNvSpPr/>
                <p:nvPr/>
              </p:nvSpPr>
              <p:spPr>
                <a:xfrm>
                  <a:off x="6892" y="620"/>
                  <a:ext cx="7845" cy="5255"/>
                </a:xfrm>
                <a:custGeom>
                  <a:avLst/>
                  <a:gdLst>
                    <a:gd name="connsiteX0" fmla="*/ 10 w 5561"/>
                    <a:gd name="connsiteY0" fmla="*/ 878 h 5238"/>
                    <a:gd name="connsiteX1" fmla="*/ 386 w 5561"/>
                    <a:gd name="connsiteY1" fmla="*/ 0 h 5238"/>
                    <a:gd name="connsiteX2" fmla="*/ 4690 w 5561"/>
                    <a:gd name="connsiteY2" fmla="*/ 6 h 5238"/>
                    <a:gd name="connsiteX3" fmla="*/ 5562 w 5561"/>
                    <a:gd name="connsiteY3" fmla="*/ 878 h 5238"/>
                    <a:gd name="connsiteX4" fmla="*/ 5562 w 5561"/>
                    <a:gd name="connsiteY4" fmla="*/ 4366 h 5238"/>
                    <a:gd name="connsiteX5" fmla="*/ 4690 w 5561"/>
                    <a:gd name="connsiteY5" fmla="*/ 5238 h 5238"/>
                    <a:gd name="connsiteX6" fmla="*/ 479 w 5561"/>
                    <a:gd name="connsiteY6" fmla="*/ 5228 h 5238"/>
                    <a:gd name="connsiteX7" fmla="*/ 10 w 5561"/>
                    <a:gd name="connsiteY7" fmla="*/ 4366 h 5238"/>
                    <a:gd name="connsiteX8" fmla="*/ 10 w 5561"/>
                    <a:gd name="connsiteY8" fmla="*/ 878 h 5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562" h="5238">
                      <a:moveTo>
                        <a:pt x="10" y="878"/>
                      </a:moveTo>
                      <a:cubicBezTo>
                        <a:pt x="10" y="396"/>
                        <a:pt x="-96" y="0"/>
                        <a:pt x="386" y="0"/>
                      </a:cubicBezTo>
                      <a:lnTo>
                        <a:pt x="4690" y="6"/>
                      </a:lnTo>
                      <a:cubicBezTo>
                        <a:pt x="5172" y="6"/>
                        <a:pt x="5562" y="396"/>
                        <a:pt x="5562" y="878"/>
                      </a:cubicBezTo>
                      <a:lnTo>
                        <a:pt x="5562" y="4366"/>
                      </a:lnTo>
                      <a:cubicBezTo>
                        <a:pt x="5562" y="4848"/>
                        <a:pt x="5172" y="5238"/>
                        <a:pt x="4690" y="5238"/>
                      </a:cubicBezTo>
                      <a:lnTo>
                        <a:pt x="479" y="5228"/>
                      </a:lnTo>
                      <a:cubicBezTo>
                        <a:pt x="-3" y="5228"/>
                        <a:pt x="10" y="4848"/>
                        <a:pt x="10" y="4366"/>
                      </a:cubicBezTo>
                      <a:lnTo>
                        <a:pt x="10" y="878"/>
                      </a:lnTo>
                      <a:close/>
                    </a:path>
                  </a:pathLst>
                </a:custGeom>
                <a:solidFill>
                  <a:srgbClr val="0A959E"/>
                </a:solidFill>
                <a:ln w="158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26" name="Text Box 25"/>
                <p:cNvSpPr txBox="1"/>
                <p:nvPr/>
              </p:nvSpPr>
              <p:spPr>
                <a:xfrm>
                  <a:off x="7731" y="1679"/>
                  <a:ext cx="7006" cy="41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marL="342900" indent="-34290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Unsupervised anomaly detection using Isolation Forest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  <a:p>
                  <a:pPr marL="342900" indent="-34290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16 behavioral features engineered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  <a:p>
                  <a:pPr marL="342900" indent="-342900" algn="l">
                    <a:lnSpc>
                      <a:spcPct val="100000"/>
                    </a:lnSpc>
                    <a:spcBef>
                      <a:spcPts val="40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2000">
                      <a:solidFill>
                        <a:srgbClr val="E6F2FC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Configurable risk threshold (default 0.75)</a:t>
                  </a:r>
                  <a:endParaRPr lang="en-US" sz="2000">
                    <a:solidFill>
                      <a:srgbClr val="E6F2FC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27" name="Text Box 26"/>
              <p:cNvSpPr txBox="1"/>
              <p:nvPr/>
            </p:nvSpPr>
            <p:spPr>
              <a:xfrm>
                <a:off x="7323" y="2047"/>
                <a:ext cx="4348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sz="2400" b="1" i="1" u="sng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Fraud Detection</a:t>
                </a:r>
                <a:endParaRPr lang="en-US" sz="24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8" name="Rectangles 27"/>
            <p:cNvSpPr/>
            <p:nvPr/>
          </p:nvSpPr>
          <p:spPr>
            <a:xfrm>
              <a:off x="6695" y="1820"/>
              <a:ext cx="358" cy="5238"/>
            </a:xfrm>
            <a:prstGeom prst="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29" name="Text Box 28"/>
          <p:cNvSpPr txBox="1"/>
          <p:nvPr/>
        </p:nvSpPr>
        <p:spPr>
          <a:xfrm>
            <a:off x="635" y="5513705"/>
            <a:ext cx="12191365" cy="953135"/>
          </a:xfrm>
          <a:prstGeom prst="rect">
            <a:avLst/>
          </a:prstGeom>
          <a:solidFill>
            <a:srgbClr val="8CF2F8">
              <a:alpha val="23000"/>
            </a:srgb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sz="2800" b="1" i="1" u="sng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three modules were researched, designed, and prototyped in Semester 1. Semester 2 integrated them into the production platform.</a:t>
            </a:r>
            <a:endParaRPr lang="en-US" sz="2800" b="1" i="1" u="sng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29" grpId="0" bldLvl="0" animBg="1"/>
      <p:bldP spid="29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" y="2551430"/>
            <a:ext cx="12190730" cy="1320800"/>
          </a:xfrm>
        </p:spPr>
        <p:txBody>
          <a:bodyPr>
            <a:normAutofit fontScale="90000"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Recommendation </a:t>
            </a:r>
            <a:b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System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56235" y="179070"/>
            <a:ext cx="4624705" cy="510540"/>
          </a:xfrm>
        </p:spPr>
        <p:txBody>
          <a:bodyPr>
            <a:noAutofit/>
          </a:bodyPr>
          <a:p>
            <a:r>
              <a:rPr lang="en-US" sz="2400" b="1" dirty="0">
                <a:solidFill>
                  <a:schemeClr val="accent1"/>
                </a:solidFill>
              </a:rPr>
              <a:t>Recommendation System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pic>
        <p:nvPicPr>
          <p:cNvPr id="5" name="image9.png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360" y="689610"/>
            <a:ext cx="6746875" cy="4586605"/>
          </a:xfrm>
          <a:prstGeom prst="rect">
            <a:avLst/>
          </a:prstGeom>
          <a:noFill/>
        </p:spPr>
      </p:pic>
      <p:sp>
        <p:nvSpPr>
          <p:cNvPr id="6" name="Text Box 5"/>
          <p:cNvSpPr txBox="1"/>
          <p:nvPr/>
        </p:nvSpPr>
        <p:spPr>
          <a:xfrm>
            <a:off x="8063865" y="1169670"/>
            <a:ext cx="1568450" cy="583565"/>
          </a:xfrm>
          <a:prstGeom prst="rect">
            <a:avLst/>
          </a:prstGeom>
          <a:solidFill>
            <a:srgbClr val="8CF2F8">
              <a:alpha val="23000"/>
            </a:srgb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p>
            <a:r>
              <a:rPr lang="en-US" sz="3200" b="1" i="1" u="sng">
                <a:solidFill>
                  <a:srgbClr val="F5B4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</a:t>
            </a:r>
            <a:endParaRPr lang="en-US" sz="3200" b="1" i="1" u="sng">
              <a:solidFill>
                <a:srgbClr val="F5B44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741160" y="1753235"/>
            <a:ext cx="5380990" cy="2122805"/>
          </a:xfrm>
          <a:prstGeom prst="rect">
            <a:avLst/>
          </a:prstGeom>
          <a:solidFill>
            <a:srgbClr val="8CF2F8">
              <a:alpha val="23000"/>
            </a:srgb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F5B4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AUC: 0.8421 (+12.3% vs baseline)"</a:t>
            </a:r>
            <a:endParaRPr lang="en-US" sz="2200" b="1">
              <a:solidFill>
                <a:srgbClr val="F5B44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F5B4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"Precision@10: +28.8% improvement"</a:t>
            </a:r>
            <a:endParaRPr lang="en-US" sz="2200" b="1">
              <a:solidFill>
                <a:srgbClr val="F5B44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F5B4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"Overfitting gap: reduced by 80.8%"</a:t>
            </a:r>
            <a:endParaRPr lang="en-US" sz="2200" b="1">
              <a:solidFill>
                <a:srgbClr val="F5B44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F5B4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"Trained on 55,666 transactions</a:t>
            </a:r>
            <a:endParaRPr lang="en-US" sz="2200" b="1">
              <a:solidFill>
                <a:srgbClr val="F5B44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22605" y="5377815"/>
            <a:ext cx="11095990" cy="953135"/>
          </a:xfrm>
          <a:prstGeom prst="rect">
            <a:avLst/>
          </a:prstGeom>
          <a:solidFill>
            <a:srgbClr val="8CF2F8">
              <a:alpha val="23000"/>
            </a:srgb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ctr"/>
            <a:r>
              <a:rPr lang="en-US" sz="2800" b="1" i="1" u="sng">
                <a:solidFill>
                  <a:srgbClr val="F5B4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Cold-start solved: New users get recommendations from feature embeddings</a:t>
            </a:r>
            <a:endParaRPr lang="en-US" sz="2800" b="1" i="1" u="sng">
              <a:solidFill>
                <a:srgbClr val="F5B44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7" grpId="0" bldLvl="0" animBg="1"/>
      <p:bldP spid="7" grpId="1"/>
      <p:bldP spid="6" grpId="0" bldLvl="0" animBg="1"/>
      <p:bldP spid="6" grpId="1"/>
      <p:bldP spid="8" grpId="0" bldLvl="0" animBg="1"/>
      <p:bldP spid="8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" y="2551430"/>
            <a:ext cx="12190730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Fraud Detection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21.png"/>
          <p:cNvPicPr>
            <a:picLocks noChangeAspect="1" noChangeArrowheads="1"/>
          </p:cNvPicPr>
          <p:nvPr/>
        </p:nvPicPr>
        <p:blipFill>
          <a:blip r:embed="rId1"/>
          <a:srcRect l="3082" t="2126" r="9021" b="14076"/>
          <a:stretch>
            <a:fillRect/>
          </a:stretch>
        </p:blipFill>
        <p:spPr>
          <a:xfrm>
            <a:off x="141605" y="824865"/>
            <a:ext cx="6447155" cy="3878580"/>
          </a:xfrm>
          <a:prstGeom prst="rect">
            <a:avLst/>
          </a:prstGeom>
          <a:noFill/>
        </p:spPr>
      </p:pic>
      <p:graphicFrame>
        <p:nvGraphicFramePr>
          <p:cNvPr id="9" name="Table 8"/>
          <p:cNvGraphicFramePr/>
          <p:nvPr/>
        </p:nvGraphicFramePr>
        <p:xfrm>
          <a:off x="6716395" y="2467610"/>
          <a:ext cx="53848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190"/>
                <a:gridCol w="1224915"/>
                <a:gridCol w="1287780"/>
                <a:gridCol w="1605915"/>
              </a:tblGrid>
              <a:tr h="502920">
                <a:tc>
                  <a:txBody>
                    <a:bodyPr/>
                    <a:p>
                      <a:pPr algn="ctr" fontAlgn="auto">
                        <a:lnSpc>
                          <a:spcPct val="150000"/>
                        </a:lnSpc>
                        <a:spcBef>
                          <a:spcPts val="3600"/>
                        </a:spcBef>
                        <a:buNone/>
                      </a:pPr>
                      <a:r>
                        <a:rPr lang="en-US"/>
                        <a:t>Tier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auto">
                        <a:lnSpc>
                          <a:spcPct val="150000"/>
                        </a:lnSpc>
                        <a:spcBef>
                          <a:spcPts val="3600"/>
                        </a:spcBef>
                        <a:buNone/>
                      </a:pPr>
                      <a:r>
                        <a:rPr lang="en-US"/>
                        <a:t>Score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auto">
                        <a:lnSpc>
                          <a:spcPct val="150000"/>
                        </a:lnSpc>
                        <a:spcBef>
                          <a:spcPts val="3600"/>
                        </a:spcBef>
                        <a:buNone/>
                      </a:pPr>
                      <a:r>
                        <a:rPr lang="en-US"/>
                        <a:t>Color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 fontAlgn="auto">
                        <a:lnSpc>
                          <a:spcPct val="150000"/>
                        </a:lnSpc>
                        <a:spcBef>
                          <a:spcPts val="3600"/>
                        </a:spcBef>
                        <a:buNone/>
                      </a:pPr>
                      <a:r>
                        <a:rPr lang="en-US"/>
                        <a:t>Action</a:t>
                      </a: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Low Risk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0.0–0.49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Green text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Normal checkout</a:t>
                      </a:r>
                      <a:endParaRPr lang="en-US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Medium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0.50–0.74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Yellow text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Extra verification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High Risk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0.75–1.0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Red text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Blocked, admin review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56235" y="179070"/>
            <a:ext cx="4624705" cy="510540"/>
          </a:xfrm>
        </p:spPr>
        <p:txBody>
          <a:bodyPr>
            <a:noAutofit/>
          </a:bodyPr>
          <a:p>
            <a:r>
              <a:rPr lang="en-US" sz="2400" b="1" dirty="0">
                <a:solidFill>
                  <a:schemeClr val="accent1"/>
                </a:solidFill>
              </a:rPr>
              <a:t>Fraud Detection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11" name="Title 9"/>
          <p:cNvSpPr>
            <a:spLocks noGrp="1"/>
          </p:cNvSpPr>
          <p:nvPr/>
        </p:nvSpPr>
        <p:spPr>
          <a:xfrm>
            <a:off x="6964045" y="966470"/>
            <a:ext cx="4624705" cy="1320165"/>
          </a:xfrm>
          <a:prstGeom prst="rect">
            <a:avLst/>
          </a:prstGeom>
          <a:solidFill>
            <a:srgbClr val="8CF2F8">
              <a:alpha val="23000"/>
            </a:srgb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BEAA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/>
            <a:r>
              <a:rPr lang="en-US" sz="2000" b="1" i="1" dirty="0">
                <a:solidFill>
                  <a:srgbClr val="F5B446"/>
                </a:solidFill>
              </a:rPr>
              <a:t>16 behavioral features — Temporal, Velocity, Financial, Geographic16 behavioral features — Temporal, Velocity, Financial, Geographic</a:t>
            </a:r>
            <a:endParaRPr lang="en-US" sz="2000" b="1" i="1" dirty="0">
              <a:solidFill>
                <a:srgbClr val="F5B446"/>
              </a:solidFill>
            </a:endParaRPr>
          </a:p>
        </p:txBody>
      </p:sp>
      <p:sp>
        <p:nvSpPr>
          <p:cNvPr id="12" name="Title 9"/>
          <p:cNvSpPr>
            <a:spLocks noGrp="1"/>
          </p:cNvSpPr>
          <p:nvPr/>
        </p:nvSpPr>
        <p:spPr>
          <a:xfrm>
            <a:off x="742950" y="5785485"/>
            <a:ext cx="10534015" cy="905510"/>
          </a:xfrm>
          <a:prstGeom prst="rect">
            <a:avLst/>
          </a:prstGeom>
          <a:solidFill>
            <a:srgbClr val="8CF2F8">
              <a:alpha val="23000"/>
            </a:srgb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BEAA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b="1" i="1" dirty="0">
                <a:solidFill>
                  <a:srgbClr val="F5B446"/>
                </a:solidFill>
              </a:rPr>
              <a:t>This is a behavioral safety layer — not the core of the platform. It supports human decision-making, not replaces it.</a:t>
            </a:r>
            <a:endParaRPr lang="en-US" sz="2000" b="1" i="1" dirty="0">
              <a:solidFill>
                <a:srgbClr val="F5B44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 animBg="1"/>
      <p:bldP spid="11" grpId="1" animBg="1"/>
      <p:bldP spid="12" grpId="0" bldLvl="0" animBg="1"/>
      <p:bldP spid="1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" y="2551430"/>
            <a:ext cx="12190730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Gap Analysis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56235" y="179070"/>
            <a:ext cx="4624705" cy="510540"/>
          </a:xfrm>
        </p:spPr>
        <p:txBody>
          <a:bodyPr>
            <a:noAutofit/>
          </a:bodyPr>
          <a:p>
            <a:r>
              <a:rPr lang="en-US" sz="2400" b="1" dirty="0">
                <a:solidFill>
                  <a:schemeClr val="accent1"/>
                </a:solidFill>
              </a:rPr>
              <a:t>Gap Analysis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graphicFrame>
        <p:nvGraphicFramePr>
          <p:cNvPr id="7" name="Table 6"/>
          <p:cNvGraphicFramePr/>
          <p:nvPr/>
        </p:nvGraphicFramePr>
        <p:xfrm>
          <a:off x="89535" y="915670"/>
          <a:ext cx="5847715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085"/>
                <a:gridCol w="1945640"/>
                <a:gridCol w="245999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Gap Score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Severity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/>
                        <a:t>Action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&lt; 50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1" u="sng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sym typeface="+mn-ea"/>
                        </a:rPr>
                        <a:t>Low </a:t>
                      </a:r>
                      <a:endParaRPr lang="en-US" sz="1800" b="1" i="1" u="sng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Monitor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50-100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1" u="sng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sym typeface="+mn-ea"/>
                        </a:rPr>
                        <a:t>Moderate </a:t>
                      </a:r>
                      <a:endParaRPr lang="en-US" sz="1800" b="1" i="1" u="sng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Incentivize owners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100-200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1" u="sng">
                          <a:solidFill>
                            <a:srgbClr val="FFC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sym typeface="+mn-ea"/>
                        </a:rPr>
                        <a:t>High </a:t>
                      </a:r>
                      <a:endParaRPr lang="en-US" sz="1800" b="1" i="1" u="sng">
                        <a:solidFill>
                          <a:srgbClr val="FFC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Active recruitment</a:t>
                      </a:r>
                      <a:endParaRPr lang="en-US" sz="1800"/>
                    </a:p>
                    <a:p>
                      <a:pPr algn="ctr">
                        <a:buNone/>
                      </a:pPr>
                      <a:endParaRPr lang="en-US"/>
                    </a:p>
                  </a:txBody>
                  <a:tcPr/>
                </a:tc>
              </a:tr>
              <a:tr h="6908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&gt; 200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1" u="sng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sym typeface="+mn-ea"/>
                        </a:rPr>
                        <a:t>Critical </a:t>
                      </a:r>
                      <a:endParaRPr lang="en-US" sz="1800" b="1" i="1" u="sng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Emergency campaign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9" name="image11.png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4870" y="2256155"/>
            <a:ext cx="6248400" cy="43815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" y="2551430"/>
            <a:ext cx="12190730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Semester 1 Timeline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20" descr="renty_high_level_gantt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160" y="892175"/>
            <a:ext cx="12201525" cy="5229860"/>
          </a:xfrm>
          <a:prstGeom prst="rect">
            <a:avLst/>
          </a:prstGeom>
          <a:noFill/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56235" y="179070"/>
            <a:ext cx="4624705" cy="510540"/>
          </a:xfrm>
        </p:spPr>
        <p:txBody>
          <a:bodyPr>
            <a:noAutofit/>
          </a:bodyPr>
          <a:p>
            <a:r>
              <a:rPr lang="en-US" sz="2400" b="1" dirty="0">
                <a:solidFill>
                  <a:schemeClr val="accent1"/>
                </a:solidFill>
              </a:rPr>
              <a:t>Semester 1 Timeline</a:t>
            </a:r>
            <a:endParaRPr lang="en-US" sz="2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" y="2551430"/>
            <a:ext cx="12190730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Rental Lifecycle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12.png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9050" y="264795"/>
            <a:ext cx="12199620" cy="6100445"/>
          </a:xfrm>
          <a:prstGeom prst="rect">
            <a:avLst/>
          </a:prstGeom>
          <a:noFill/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56235" y="179070"/>
            <a:ext cx="4624705" cy="510540"/>
          </a:xfrm>
        </p:spPr>
        <p:txBody>
          <a:bodyPr>
            <a:noAutofit/>
          </a:bodyPr>
          <a:p>
            <a:r>
              <a:rPr lang="en-US" sz="2400" b="1" dirty="0">
                <a:solidFill>
                  <a:schemeClr val="accent1"/>
                </a:solidFill>
              </a:rPr>
              <a:t>Rental Lifecycle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13" name="Title 9"/>
          <p:cNvSpPr>
            <a:spLocks noGrp="1"/>
          </p:cNvSpPr>
          <p:nvPr/>
        </p:nvSpPr>
        <p:spPr>
          <a:xfrm>
            <a:off x="0" y="5966460"/>
            <a:ext cx="12191365" cy="905510"/>
          </a:xfrm>
          <a:prstGeom prst="rect">
            <a:avLst/>
          </a:prstGeom>
          <a:solidFill>
            <a:srgbClr val="8CF2F8">
              <a:alpha val="23000"/>
            </a:srgbClr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BEAA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b="1" i="1" dirty="0">
                <a:solidFill>
                  <a:srgbClr val="F5B446"/>
                </a:solidFill>
              </a:rPr>
              <a:t>Every state transition is enforced at the database level using PostgreSQL ENUMs and check constraints.</a:t>
            </a:r>
            <a:endParaRPr lang="en-US" sz="2400" b="1" i="1" dirty="0">
              <a:solidFill>
                <a:srgbClr val="F5B44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3" grpId="0" bldLvl="0" animBg="1"/>
      <p:bldP spid="13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325" y="2551430"/>
            <a:ext cx="11282680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Payment &amp; Escrow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hatGPT Image Jun 14, 2026, 11_23_35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20320"/>
            <a:ext cx="12185015" cy="6858000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56235" y="179070"/>
            <a:ext cx="4624705" cy="510540"/>
          </a:xfrm>
        </p:spPr>
        <p:txBody>
          <a:bodyPr>
            <a:noAutofit/>
          </a:bodyPr>
          <a:p>
            <a:r>
              <a:rPr lang="en-US" sz="2400" b="1" dirty="0">
                <a:solidFill>
                  <a:schemeClr val="accent1"/>
                </a:solidFill>
              </a:rPr>
              <a:t>Payment &amp; Escrow</a:t>
            </a:r>
            <a:endParaRPr lang="en-US" sz="2400" b="1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325" y="2073910"/>
            <a:ext cx="12252325" cy="1320800"/>
          </a:xfrm>
        </p:spPr>
        <p:txBody>
          <a:bodyPr>
            <a:normAutofit fontScale="90000"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Real Time </a:t>
            </a:r>
            <a:b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</a:br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Communication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22885" y="158750"/>
            <a:ext cx="4624705" cy="510540"/>
          </a:xfrm>
        </p:spPr>
        <p:txBody>
          <a:bodyPr>
            <a:noAutofit/>
          </a:bodyPr>
          <a:p>
            <a:r>
              <a:rPr lang="en-US" sz="2400" b="1" dirty="0">
                <a:solidFill>
                  <a:schemeClr val="accent1"/>
                </a:solidFill>
              </a:rPr>
              <a:t>Real Time Communication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graphicFrame>
        <p:nvGraphicFramePr>
          <p:cNvPr id="7" name="Table 6"/>
          <p:cNvGraphicFramePr/>
          <p:nvPr/>
        </p:nvGraphicFramePr>
        <p:xfrm>
          <a:off x="13970" y="688340"/>
          <a:ext cx="625221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/>
                <a:gridCol w="1332865"/>
                <a:gridCol w="2696845"/>
              </a:tblGrid>
              <a:tr h="50292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Event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Recipient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Trigger</a:t>
                      </a:r>
                      <a:endParaRPr lang="en-US"/>
                    </a:p>
                  </a:txBody>
                  <a:tcPr/>
                </a:tc>
              </a:tr>
              <a:tr h="323850">
                <a:tc>
                  <a:txBody>
                    <a:bodyPr/>
                    <a:p>
                      <a:pPr lvl="0"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Rental Confirmed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Renter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Owner approves request</a:t>
                      </a:r>
                      <a:endParaRPr 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Rental Started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Renter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Both confirm handover</a:t>
                      </a:r>
                      <a:endParaRPr lang="en-US"/>
                    </a:p>
                  </a:txBody>
                  <a:tcPr/>
                </a:tc>
              </a:tr>
              <a:tr h="25463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New Message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Recipient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Other party sends chat</a:t>
                      </a:r>
                      <a:endParaRPr lang="en-US"/>
                    </a:p>
                  </a:txBody>
                  <a:tcPr/>
                </a:tc>
              </a:tr>
              <a:tr h="34353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Return Reminder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Renter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24h before end date</a:t>
                      </a:r>
                      <a:endParaRPr lang="en-US"/>
                    </a:p>
                  </a:txBody>
                  <a:tcPr/>
                </a:tc>
              </a:tr>
              <a:tr h="27622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Late Fee Alert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Renter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Overdue detected</a:t>
                      </a:r>
                      <a:endParaRPr lang="en-US"/>
                    </a:p>
                  </a:txBody>
                  <a:tcPr/>
                </a:tc>
              </a:tr>
              <a:tr h="34353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/>
                        <a:t>Dispute Opened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Both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>
                          <a:sym typeface="+mn-ea"/>
                        </a:rPr>
                        <a:t>User opens dispute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7" descr="ChatGPT Image Jun 15, 2026, 12_42_30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4550" y="1899285"/>
            <a:ext cx="8797925" cy="49517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325" y="2073910"/>
            <a:ext cx="12252325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Operational Workflows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hatGPT Image Jun 15, 2026, 12_55_24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25" y="523240"/>
            <a:ext cx="7736840" cy="4753610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22885" y="158750"/>
            <a:ext cx="4624705" cy="510540"/>
          </a:xfrm>
        </p:spPr>
        <p:txBody>
          <a:bodyPr>
            <a:noAutofit/>
          </a:bodyPr>
          <a:p>
            <a:r>
              <a:rPr lang="en-US" sz="2400" b="1" dirty="0">
                <a:solidFill>
                  <a:schemeClr val="accent1"/>
                </a:solidFill>
              </a:rPr>
              <a:t>Operational Workflows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pic>
        <p:nvPicPr>
          <p:cNvPr id="7" name="Picture 6" descr="ChatGPT Image Jun 15, 2026, 12_53_47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900" y="2571750"/>
            <a:ext cx="7762875" cy="4259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325" y="2073910"/>
            <a:ext cx="12252325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Trust Architecture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22885" y="158750"/>
            <a:ext cx="3497580" cy="501650"/>
          </a:xfrm>
        </p:spPr>
        <p:txBody>
          <a:bodyPr>
            <a:noAutofit/>
          </a:bodyPr>
          <a:p>
            <a:r>
              <a:rPr lang="en-US" altLang="ug-CN" sz="2400" b="1" dirty="0">
                <a:solidFill>
                  <a:schemeClr val="accent1"/>
                </a:solidFill>
              </a:rPr>
              <a:t>Trust Architecture</a:t>
            </a:r>
            <a:endParaRPr lang="en-US" altLang="ug-CN" sz="2400" b="1" dirty="0">
              <a:solidFill>
                <a:schemeClr val="accent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1125" y="2909570"/>
            <a:ext cx="1202055" cy="1202055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3121660" y="488950"/>
            <a:ext cx="5800090" cy="1837690"/>
            <a:chOff x="4916" y="770"/>
            <a:chExt cx="9134" cy="2894"/>
          </a:xfrm>
        </p:grpSpPr>
        <p:sp>
          <p:nvSpPr>
            <p:cNvPr id="13" name="Freeform 12"/>
            <p:cNvSpPr/>
            <p:nvPr/>
          </p:nvSpPr>
          <p:spPr>
            <a:xfrm>
              <a:off x="4916" y="770"/>
              <a:ext cx="9070" cy="2894"/>
            </a:xfrm>
            <a:custGeom>
              <a:avLst/>
              <a:gdLst>
                <a:gd name="connsiteX0" fmla="*/ 51 w 2961"/>
                <a:gd name="connsiteY0" fmla="*/ 406 h 2303"/>
                <a:gd name="connsiteX1" fmla="*/ 170 w 2961"/>
                <a:gd name="connsiteY1" fmla="*/ 0 h 2303"/>
                <a:gd name="connsiteX2" fmla="*/ 2577 w 2961"/>
                <a:gd name="connsiteY2" fmla="*/ 0 h 2303"/>
                <a:gd name="connsiteX3" fmla="*/ 2961 w 2961"/>
                <a:gd name="connsiteY3" fmla="*/ 384 h 2303"/>
                <a:gd name="connsiteX4" fmla="*/ 2961 w 2961"/>
                <a:gd name="connsiteY4" fmla="*/ 1919 h 2303"/>
                <a:gd name="connsiteX5" fmla="*/ 2577 w 2961"/>
                <a:gd name="connsiteY5" fmla="*/ 2303 h 2303"/>
                <a:gd name="connsiteX6" fmla="*/ 170 w 2961"/>
                <a:gd name="connsiteY6" fmla="*/ 2303 h 2303"/>
                <a:gd name="connsiteX7" fmla="*/ 4 w 2961"/>
                <a:gd name="connsiteY7" fmla="*/ 1900 h 2303"/>
                <a:gd name="connsiteX8" fmla="*/ 51 w 2961"/>
                <a:gd name="connsiteY8" fmla="*/ 406 h 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61" h="2303">
                  <a:moveTo>
                    <a:pt x="51" y="406"/>
                  </a:moveTo>
                  <a:cubicBezTo>
                    <a:pt x="51" y="194"/>
                    <a:pt x="-42" y="0"/>
                    <a:pt x="170" y="0"/>
                  </a:cubicBezTo>
                  <a:lnTo>
                    <a:pt x="2577" y="0"/>
                  </a:lnTo>
                  <a:cubicBezTo>
                    <a:pt x="2789" y="0"/>
                    <a:pt x="2961" y="172"/>
                    <a:pt x="2961" y="384"/>
                  </a:cubicBezTo>
                  <a:lnTo>
                    <a:pt x="2961" y="1919"/>
                  </a:lnTo>
                  <a:cubicBezTo>
                    <a:pt x="2961" y="2131"/>
                    <a:pt x="2789" y="2303"/>
                    <a:pt x="2577" y="2303"/>
                  </a:cubicBezTo>
                  <a:lnTo>
                    <a:pt x="170" y="2303"/>
                  </a:lnTo>
                  <a:cubicBezTo>
                    <a:pt x="-42" y="2303"/>
                    <a:pt x="4" y="2112"/>
                    <a:pt x="4" y="1900"/>
                  </a:cubicBezTo>
                  <a:lnTo>
                    <a:pt x="51" y="406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4" name="Rectangles 13"/>
            <p:cNvSpPr/>
            <p:nvPr/>
          </p:nvSpPr>
          <p:spPr>
            <a:xfrm>
              <a:off x="4916" y="770"/>
              <a:ext cx="277" cy="2894"/>
            </a:xfrm>
            <a:prstGeom prst="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5" name="Text Box 14"/>
            <p:cNvSpPr txBox="1"/>
            <p:nvPr/>
          </p:nvSpPr>
          <p:spPr>
            <a:xfrm>
              <a:off x="7587" y="807"/>
              <a:ext cx="400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sz="20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Escrow Payments</a:t>
              </a:r>
              <a:endParaRPr lang="en-US" sz="20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Text Box 15"/>
            <p:cNvSpPr txBox="1"/>
            <p:nvPr/>
          </p:nvSpPr>
          <p:spPr>
            <a:xfrm>
              <a:off x="5127" y="1189"/>
              <a:ext cx="8923" cy="2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All money held by platform until rental completes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Renter protected: refund if owner doesn't deliver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Owner protected: deposit covers damage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0" y="2560320"/>
            <a:ext cx="5112314" cy="1849120"/>
            <a:chOff x="4916" y="770"/>
            <a:chExt cx="9199" cy="2912"/>
          </a:xfrm>
        </p:grpSpPr>
        <p:sp>
          <p:nvSpPr>
            <p:cNvPr id="19" name="Freeform 18"/>
            <p:cNvSpPr/>
            <p:nvPr/>
          </p:nvSpPr>
          <p:spPr>
            <a:xfrm>
              <a:off x="4916" y="770"/>
              <a:ext cx="8486" cy="2894"/>
            </a:xfrm>
            <a:custGeom>
              <a:avLst/>
              <a:gdLst>
                <a:gd name="connsiteX0" fmla="*/ 51 w 2961"/>
                <a:gd name="connsiteY0" fmla="*/ 406 h 2303"/>
                <a:gd name="connsiteX1" fmla="*/ 170 w 2961"/>
                <a:gd name="connsiteY1" fmla="*/ 0 h 2303"/>
                <a:gd name="connsiteX2" fmla="*/ 2577 w 2961"/>
                <a:gd name="connsiteY2" fmla="*/ 0 h 2303"/>
                <a:gd name="connsiteX3" fmla="*/ 2961 w 2961"/>
                <a:gd name="connsiteY3" fmla="*/ 384 h 2303"/>
                <a:gd name="connsiteX4" fmla="*/ 2961 w 2961"/>
                <a:gd name="connsiteY4" fmla="*/ 1919 h 2303"/>
                <a:gd name="connsiteX5" fmla="*/ 2577 w 2961"/>
                <a:gd name="connsiteY5" fmla="*/ 2303 h 2303"/>
                <a:gd name="connsiteX6" fmla="*/ 170 w 2961"/>
                <a:gd name="connsiteY6" fmla="*/ 2303 h 2303"/>
                <a:gd name="connsiteX7" fmla="*/ 4 w 2961"/>
                <a:gd name="connsiteY7" fmla="*/ 1900 h 2303"/>
                <a:gd name="connsiteX8" fmla="*/ 51 w 2961"/>
                <a:gd name="connsiteY8" fmla="*/ 406 h 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61" h="2303">
                  <a:moveTo>
                    <a:pt x="51" y="406"/>
                  </a:moveTo>
                  <a:cubicBezTo>
                    <a:pt x="51" y="194"/>
                    <a:pt x="-42" y="0"/>
                    <a:pt x="170" y="0"/>
                  </a:cubicBezTo>
                  <a:lnTo>
                    <a:pt x="2577" y="0"/>
                  </a:lnTo>
                  <a:cubicBezTo>
                    <a:pt x="2789" y="0"/>
                    <a:pt x="2961" y="172"/>
                    <a:pt x="2961" y="384"/>
                  </a:cubicBezTo>
                  <a:lnTo>
                    <a:pt x="2961" y="1919"/>
                  </a:lnTo>
                  <a:cubicBezTo>
                    <a:pt x="2961" y="2131"/>
                    <a:pt x="2789" y="2303"/>
                    <a:pt x="2577" y="2303"/>
                  </a:cubicBezTo>
                  <a:lnTo>
                    <a:pt x="170" y="2303"/>
                  </a:lnTo>
                  <a:cubicBezTo>
                    <a:pt x="-42" y="2303"/>
                    <a:pt x="4" y="2112"/>
                    <a:pt x="4" y="1900"/>
                  </a:cubicBezTo>
                  <a:lnTo>
                    <a:pt x="51" y="406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" name="Rectangles 19"/>
            <p:cNvSpPr/>
            <p:nvPr/>
          </p:nvSpPr>
          <p:spPr>
            <a:xfrm>
              <a:off x="4916" y="770"/>
              <a:ext cx="277" cy="2894"/>
            </a:xfrm>
            <a:prstGeom prst="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" name="Text Box 20"/>
            <p:cNvSpPr txBox="1"/>
            <p:nvPr/>
          </p:nvSpPr>
          <p:spPr>
            <a:xfrm>
              <a:off x="7587" y="807"/>
              <a:ext cx="467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sz="20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Identity &amp; Ratings</a:t>
              </a:r>
              <a:endParaRPr lang="en-US" sz="20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5192" y="1309"/>
              <a:ext cx="8923" cy="23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Email + phone + ID verification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Dual rating system (renter rates owner, owner rates renter)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Fraud scoring as additional safety layer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865620" y="2550795"/>
            <a:ext cx="5212080" cy="1837690"/>
            <a:chOff x="4916" y="770"/>
            <a:chExt cx="9134" cy="2894"/>
          </a:xfrm>
        </p:grpSpPr>
        <p:sp>
          <p:nvSpPr>
            <p:cNvPr id="29" name="Freeform 28"/>
            <p:cNvSpPr/>
            <p:nvPr/>
          </p:nvSpPr>
          <p:spPr>
            <a:xfrm>
              <a:off x="4916" y="770"/>
              <a:ext cx="8824" cy="2894"/>
            </a:xfrm>
            <a:custGeom>
              <a:avLst/>
              <a:gdLst>
                <a:gd name="connsiteX0" fmla="*/ 51 w 2961"/>
                <a:gd name="connsiteY0" fmla="*/ 406 h 2303"/>
                <a:gd name="connsiteX1" fmla="*/ 170 w 2961"/>
                <a:gd name="connsiteY1" fmla="*/ 0 h 2303"/>
                <a:gd name="connsiteX2" fmla="*/ 2577 w 2961"/>
                <a:gd name="connsiteY2" fmla="*/ 0 h 2303"/>
                <a:gd name="connsiteX3" fmla="*/ 2961 w 2961"/>
                <a:gd name="connsiteY3" fmla="*/ 384 h 2303"/>
                <a:gd name="connsiteX4" fmla="*/ 2961 w 2961"/>
                <a:gd name="connsiteY4" fmla="*/ 1919 h 2303"/>
                <a:gd name="connsiteX5" fmla="*/ 2577 w 2961"/>
                <a:gd name="connsiteY5" fmla="*/ 2303 h 2303"/>
                <a:gd name="connsiteX6" fmla="*/ 170 w 2961"/>
                <a:gd name="connsiteY6" fmla="*/ 2303 h 2303"/>
                <a:gd name="connsiteX7" fmla="*/ 4 w 2961"/>
                <a:gd name="connsiteY7" fmla="*/ 1900 h 2303"/>
                <a:gd name="connsiteX8" fmla="*/ 51 w 2961"/>
                <a:gd name="connsiteY8" fmla="*/ 406 h 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61" h="2303">
                  <a:moveTo>
                    <a:pt x="51" y="406"/>
                  </a:moveTo>
                  <a:cubicBezTo>
                    <a:pt x="51" y="194"/>
                    <a:pt x="-42" y="0"/>
                    <a:pt x="170" y="0"/>
                  </a:cubicBezTo>
                  <a:lnTo>
                    <a:pt x="2577" y="0"/>
                  </a:lnTo>
                  <a:cubicBezTo>
                    <a:pt x="2789" y="0"/>
                    <a:pt x="2961" y="172"/>
                    <a:pt x="2961" y="384"/>
                  </a:cubicBezTo>
                  <a:lnTo>
                    <a:pt x="2961" y="1919"/>
                  </a:lnTo>
                  <a:cubicBezTo>
                    <a:pt x="2961" y="2131"/>
                    <a:pt x="2789" y="2303"/>
                    <a:pt x="2577" y="2303"/>
                  </a:cubicBezTo>
                  <a:lnTo>
                    <a:pt x="170" y="2303"/>
                  </a:lnTo>
                  <a:cubicBezTo>
                    <a:pt x="-42" y="2303"/>
                    <a:pt x="4" y="2112"/>
                    <a:pt x="4" y="1900"/>
                  </a:cubicBezTo>
                  <a:lnTo>
                    <a:pt x="51" y="406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0" name="Rectangles 29"/>
            <p:cNvSpPr/>
            <p:nvPr/>
          </p:nvSpPr>
          <p:spPr>
            <a:xfrm>
              <a:off x="4916" y="770"/>
              <a:ext cx="277" cy="2894"/>
            </a:xfrm>
            <a:prstGeom prst="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1" name="Text Box 30"/>
            <p:cNvSpPr txBox="1"/>
            <p:nvPr/>
          </p:nvSpPr>
          <p:spPr>
            <a:xfrm>
              <a:off x="7587" y="807"/>
              <a:ext cx="467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sz="20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Expert Verification</a:t>
              </a:r>
              <a:endParaRPr lang="en-US" sz="20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" name="Text Box 31"/>
            <p:cNvSpPr txBox="1"/>
            <p:nvPr/>
          </p:nvSpPr>
          <p:spPr>
            <a:xfrm>
              <a:off x="5127" y="1339"/>
              <a:ext cx="8923" cy="2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Physical inspection at Renty Hubs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Pre-rental and post-rental condition reports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Same expert rule: consistency prevents collusion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2760345" y="4693920"/>
            <a:ext cx="6179288" cy="1849755"/>
            <a:chOff x="4916" y="751"/>
            <a:chExt cx="10829" cy="2913"/>
          </a:xfrm>
        </p:grpSpPr>
        <p:sp>
          <p:nvSpPr>
            <p:cNvPr id="39" name="Freeform 38"/>
            <p:cNvSpPr/>
            <p:nvPr/>
          </p:nvSpPr>
          <p:spPr>
            <a:xfrm>
              <a:off x="4916" y="751"/>
              <a:ext cx="10829" cy="2912"/>
            </a:xfrm>
            <a:custGeom>
              <a:avLst/>
              <a:gdLst>
                <a:gd name="connsiteX0" fmla="*/ 51 w 2961"/>
                <a:gd name="connsiteY0" fmla="*/ 406 h 2303"/>
                <a:gd name="connsiteX1" fmla="*/ 170 w 2961"/>
                <a:gd name="connsiteY1" fmla="*/ 0 h 2303"/>
                <a:gd name="connsiteX2" fmla="*/ 2577 w 2961"/>
                <a:gd name="connsiteY2" fmla="*/ 0 h 2303"/>
                <a:gd name="connsiteX3" fmla="*/ 2961 w 2961"/>
                <a:gd name="connsiteY3" fmla="*/ 384 h 2303"/>
                <a:gd name="connsiteX4" fmla="*/ 2961 w 2961"/>
                <a:gd name="connsiteY4" fmla="*/ 1919 h 2303"/>
                <a:gd name="connsiteX5" fmla="*/ 2577 w 2961"/>
                <a:gd name="connsiteY5" fmla="*/ 2303 h 2303"/>
                <a:gd name="connsiteX6" fmla="*/ 170 w 2961"/>
                <a:gd name="connsiteY6" fmla="*/ 2303 h 2303"/>
                <a:gd name="connsiteX7" fmla="*/ 4 w 2961"/>
                <a:gd name="connsiteY7" fmla="*/ 1900 h 2303"/>
                <a:gd name="connsiteX8" fmla="*/ 51 w 2961"/>
                <a:gd name="connsiteY8" fmla="*/ 406 h 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61" h="2303">
                  <a:moveTo>
                    <a:pt x="51" y="406"/>
                  </a:moveTo>
                  <a:cubicBezTo>
                    <a:pt x="51" y="194"/>
                    <a:pt x="-42" y="0"/>
                    <a:pt x="170" y="0"/>
                  </a:cubicBezTo>
                  <a:lnTo>
                    <a:pt x="2577" y="0"/>
                  </a:lnTo>
                  <a:cubicBezTo>
                    <a:pt x="2789" y="0"/>
                    <a:pt x="2961" y="172"/>
                    <a:pt x="2961" y="384"/>
                  </a:cubicBezTo>
                  <a:lnTo>
                    <a:pt x="2961" y="1919"/>
                  </a:lnTo>
                  <a:cubicBezTo>
                    <a:pt x="2961" y="2131"/>
                    <a:pt x="2789" y="2303"/>
                    <a:pt x="2577" y="2303"/>
                  </a:cubicBezTo>
                  <a:lnTo>
                    <a:pt x="170" y="2303"/>
                  </a:lnTo>
                  <a:cubicBezTo>
                    <a:pt x="-42" y="2303"/>
                    <a:pt x="4" y="2112"/>
                    <a:pt x="4" y="1900"/>
                  </a:cubicBezTo>
                  <a:lnTo>
                    <a:pt x="51" y="406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0" name="Rectangles 39"/>
            <p:cNvSpPr/>
            <p:nvPr/>
          </p:nvSpPr>
          <p:spPr>
            <a:xfrm>
              <a:off x="4916" y="770"/>
              <a:ext cx="277" cy="2894"/>
            </a:xfrm>
            <a:prstGeom prst="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1" name="Text Box 40"/>
            <p:cNvSpPr txBox="1"/>
            <p:nvPr/>
          </p:nvSpPr>
          <p:spPr>
            <a:xfrm>
              <a:off x="7910" y="807"/>
              <a:ext cx="467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sz="20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Dispute Resolution</a:t>
              </a:r>
              <a:endParaRPr lang="en-US" sz="20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Text Box 41"/>
            <p:cNvSpPr txBox="1"/>
            <p:nvPr/>
          </p:nvSpPr>
          <p:spPr>
            <a:xfrm>
              <a:off x="5127" y="1489"/>
              <a:ext cx="10514" cy="2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3-tier escalation: Support &gt; Admin &gt; Super Admin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Evidence-based: photos, chat logs, expert reports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Cancellation policies: Flexible / Moderate / Strict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3" name="Up Arrow 42"/>
          <p:cNvSpPr/>
          <p:nvPr/>
        </p:nvSpPr>
        <p:spPr>
          <a:xfrm>
            <a:off x="5544185" y="2360930"/>
            <a:ext cx="474345" cy="51435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4" name="Up Arrow 43"/>
          <p:cNvSpPr/>
          <p:nvPr/>
        </p:nvSpPr>
        <p:spPr>
          <a:xfrm rot="5400000">
            <a:off x="6396990" y="3160395"/>
            <a:ext cx="405765" cy="51435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5" name="Up Arrow 44"/>
          <p:cNvSpPr/>
          <p:nvPr/>
        </p:nvSpPr>
        <p:spPr>
          <a:xfrm rot="10800000">
            <a:off x="5542280" y="4149725"/>
            <a:ext cx="474345" cy="51435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6" name="Up Arrow 45"/>
          <p:cNvSpPr/>
          <p:nvPr/>
        </p:nvSpPr>
        <p:spPr>
          <a:xfrm rot="16200000">
            <a:off x="4780915" y="3158490"/>
            <a:ext cx="405765" cy="51435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325" y="2073910"/>
            <a:ext cx="12252325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Expert Hubs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22885" y="158750"/>
            <a:ext cx="3497580" cy="501650"/>
          </a:xfrm>
        </p:spPr>
        <p:txBody>
          <a:bodyPr>
            <a:noAutofit/>
          </a:bodyPr>
          <a:p>
            <a:r>
              <a:rPr lang="en-US" altLang="ug-CN" sz="2400" b="1" dirty="0">
                <a:solidFill>
                  <a:schemeClr val="accent1"/>
                </a:solidFill>
              </a:rPr>
              <a:t>Expert Hubs</a:t>
            </a:r>
            <a:endParaRPr lang="en-US" altLang="ug-CN" sz="2400" b="1" dirty="0">
              <a:solidFill>
                <a:schemeClr val="accent1"/>
              </a:solidFill>
            </a:endParaRPr>
          </a:p>
        </p:txBody>
      </p:sp>
      <p:graphicFrame>
        <p:nvGraphicFramePr>
          <p:cNvPr id="8" name="Diagram 7"/>
          <p:cNvGraphicFramePr/>
          <p:nvPr/>
        </p:nvGraphicFramePr>
        <p:xfrm>
          <a:off x="1834515" y="321310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701675" y="5948045"/>
            <a:ext cx="10386060" cy="750570"/>
            <a:chOff x="1105" y="9367"/>
            <a:chExt cx="16356" cy="1182"/>
          </a:xfrm>
        </p:grpSpPr>
        <p:sp>
          <p:nvSpPr>
            <p:cNvPr id="9" name="Rounded Rectangle 8"/>
            <p:cNvSpPr/>
            <p:nvPr/>
          </p:nvSpPr>
          <p:spPr>
            <a:xfrm>
              <a:off x="1105" y="9367"/>
              <a:ext cx="16356" cy="118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0" name="Text Box 9"/>
            <p:cNvSpPr txBox="1"/>
            <p:nvPr/>
          </p:nvSpPr>
          <p:spPr>
            <a:xfrm>
              <a:off x="1348" y="9402"/>
              <a:ext cx="15870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000" b="1" i="1">
                  <a:solidFill>
                    <a:srgbClr val="F5B4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Continuity Rule: The SAME expert must perform both pre-rental and post-rental checks to prevent collusion and ensure accountability.</a:t>
              </a:r>
              <a:endParaRPr lang="en-US" sz="2000" b="1" i="1">
                <a:solidFill>
                  <a:srgbClr val="F5B4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325" y="2073910"/>
            <a:ext cx="12252325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Smart Recommendations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22885" y="158750"/>
            <a:ext cx="3952240" cy="501650"/>
          </a:xfrm>
        </p:spPr>
        <p:txBody>
          <a:bodyPr>
            <a:noAutofit/>
          </a:bodyPr>
          <a:p>
            <a:r>
              <a:rPr lang="en-US" altLang="ug-CN" sz="2400" b="1" dirty="0">
                <a:solidFill>
                  <a:schemeClr val="accent1"/>
                </a:solidFill>
              </a:rPr>
              <a:t>Smart Recommendations</a:t>
            </a:r>
            <a:endParaRPr lang="en-US" altLang="ug-CN" sz="2400" b="1" dirty="0">
              <a:solidFill>
                <a:schemeClr val="accent1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283970" y="852805"/>
            <a:ext cx="4433570" cy="4297680"/>
            <a:chOff x="259" y="1096"/>
            <a:chExt cx="6982" cy="6768"/>
          </a:xfrm>
        </p:grpSpPr>
        <p:sp>
          <p:nvSpPr>
            <p:cNvPr id="6" name="Rounded Rectangle 5"/>
            <p:cNvSpPr/>
            <p:nvPr/>
          </p:nvSpPr>
          <p:spPr>
            <a:xfrm>
              <a:off x="358" y="1096"/>
              <a:ext cx="6658" cy="676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618" y="1344"/>
              <a:ext cx="5797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sz="28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The Weekend Cyclist</a:t>
              </a:r>
              <a:endParaRPr lang="en-US" sz="28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>
              <a:off x="358" y="2279"/>
              <a:ext cx="688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- Friday 4PM: App opened 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l"/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	— System detects weekend pattern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393" y="3295"/>
              <a:ext cx="6272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- Friday 5PM: Recommends Mountain Bike + Helmet bundle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Text Box 9"/>
            <p:cNvSpPr txBox="1"/>
            <p:nvPr/>
          </p:nvSpPr>
          <p:spPr>
            <a:xfrm>
              <a:off x="398" y="4395"/>
              <a:ext cx="6272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- </a:t>
              </a: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Saturday: User books 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l"/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	— System logs interaction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259" y="5490"/>
              <a:ext cx="6532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- </a:t>
              </a: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Next Friday: Proactive notification 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l"/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	— Ready for this weekend?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598" y="6580"/>
              <a:ext cx="6272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i="1">
                  <a:solidFill>
                    <a:srgbClr val="F5B4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Pattern: Every Fri–Sun --&gt; target recommendations Friday afternoon</a:t>
              </a:r>
              <a:endParaRPr lang="en-US" i="1">
                <a:solidFill>
                  <a:srgbClr val="F5B4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698615" y="1816735"/>
            <a:ext cx="4227830" cy="4297680"/>
            <a:chOff x="358" y="1096"/>
            <a:chExt cx="6658" cy="6768"/>
          </a:xfrm>
        </p:grpSpPr>
        <p:sp>
          <p:nvSpPr>
            <p:cNvPr id="17" name="Rounded Rectangle 16"/>
            <p:cNvSpPr/>
            <p:nvPr/>
          </p:nvSpPr>
          <p:spPr>
            <a:xfrm>
              <a:off x="358" y="1096"/>
              <a:ext cx="6658" cy="676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" name="Text Box 17"/>
            <p:cNvSpPr txBox="1"/>
            <p:nvPr/>
          </p:nvSpPr>
          <p:spPr>
            <a:xfrm>
              <a:off x="1113" y="1344"/>
              <a:ext cx="5165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l"/>
              <a:r>
                <a:rPr lang="en-US" sz="28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The Diving Tourist</a:t>
              </a:r>
              <a:endParaRPr lang="en-US" sz="28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Text Box 18"/>
            <p:cNvSpPr txBox="1"/>
            <p:nvPr/>
          </p:nvSpPr>
          <p:spPr>
            <a:xfrm>
              <a:off x="492" y="2279"/>
              <a:ext cx="6272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- </a:t>
              </a: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Tourist arrives in Dahab (detected via location/language)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Text Box 19"/>
            <p:cNvSpPr txBox="1"/>
            <p:nvPr/>
          </p:nvSpPr>
          <p:spPr>
            <a:xfrm>
              <a:off x="433" y="3295"/>
              <a:ext cx="658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- </a:t>
              </a: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System recommends: Diving package 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l"/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	— BCD + Regulator + Wetsuit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 Box 20"/>
            <p:cNvSpPr txBox="1"/>
            <p:nvPr/>
          </p:nvSpPr>
          <p:spPr>
            <a:xfrm>
              <a:off x="488" y="4395"/>
              <a:ext cx="6272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- </a:t>
              </a: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Season: Summer 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l"/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	— Water sports items promoted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473" y="5490"/>
              <a:ext cx="6272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+mn-ea"/>
                </a:rPr>
                <a:t>- </a:t>
              </a:r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Language: English 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algn="l"/>
              <a:r>
                <a:rPr lang="en-US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	— Content served in English</a:t>
              </a:r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Text Box 22"/>
            <p:cNvSpPr txBox="1"/>
            <p:nvPr/>
          </p:nvSpPr>
          <p:spPr>
            <a:xfrm>
              <a:off x="432" y="6580"/>
              <a:ext cx="651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i="1">
                  <a:solidFill>
                    <a:srgbClr val="F5B4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Context-aware: Location + Season + Language = precise recommendations</a:t>
              </a:r>
              <a:endParaRPr lang="en-US" i="1">
                <a:solidFill>
                  <a:srgbClr val="F5B4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325" y="2073910"/>
            <a:ext cx="12252325" cy="1320800"/>
          </a:xfrm>
        </p:spPr>
        <p:txBody>
          <a:bodyPr>
            <a:normAutofit fontScale="90000"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Non-Functional Requirements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22885" y="158750"/>
            <a:ext cx="4525010" cy="501650"/>
          </a:xfrm>
        </p:spPr>
        <p:txBody>
          <a:bodyPr>
            <a:noAutofit/>
          </a:bodyPr>
          <a:p>
            <a:r>
              <a:rPr lang="en-US" altLang="ug-CN" sz="2400" b="1" dirty="0">
                <a:solidFill>
                  <a:schemeClr val="accent1"/>
                </a:solidFill>
              </a:rPr>
              <a:t>Non-Functional Requirements</a:t>
            </a:r>
            <a:endParaRPr lang="en-US" altLang="ug-CN" sz="2400" b="1" dirty="0">
              <a:solidFill>
                <a:schemeClr val="accent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982470" y="660400"/>
            <a:ext cx="4575084" cy="2907030"/>
            <a:chOff x="1496" y="1617"/>
            <a:chExt cx="3537" cy="4578"/>
          </a:xfrm>
        </p:grpSpPr>
        <p:sp>
          <p:nvSpPr>
            <p:cNvPr id="13" name="Freeform 12"/>
            <p:cNvSpPr/>
            <p:nvPr/>
          </p:nvSpPr>
          <p:spPr>
            <a:xfrm>
              <a:off x="1576" y="1680"/>
              <a:ext cx="3456" cy="4515"/>
            </a:xfrm>
            <a:custGeom>
              <a:avLst/>
              <a:gdLst>
                <a:gd name="connsiteX0" fmla="*/ 0 w 3456"/>
                <a:gd name="connsiteY0" fmla="*/ 390 h 6582"/>
                <a:gd name="connsiteX1" fmla="*/ 1101 w 3456"/>
                <a:gd name="connsiteY1" fmla="*/ 0 h 6582"/>
                <a:gd name="connsiteX2" fmla="*/ 2439 w 3456"/>
                <a:gd name="connsiteY2" fmla="*/ 15 h 6582"/>
                <a:gd name="connsiteX3" fmla="*/ 3456 w 3456"/>
                <a:gd name="connsiteY3" fmla="*/ 390 h 6582"/>
                <a:gd name="connsiteX4" fmla="*/ 3456 w 3456"/>
                <a:gd name="connsiteY4" fmla="*/ 6006 h 6582"/>
                <a:gd name="connsiteX5" fmla="*/ 2880 w 3456"/>
                <a:gd name="connsiteY5" fmla="*/ 6582 h 6582"/>
                <a:gd name="connsiteX6" fmla="*/ 576 w 3456"/>
                <a:gd name="connsiteY6" fmla="*/ 6582 h 6582"/>
                <a:gd name="connsiteX7" fmla="*/ 0 w 3456"/>
                <a:gd name="connsiteY7" fmla="*/ 6006 h 6582"/>
                <a:gd name="connsiteX8" fmla="*/ 0 w 3456"/>
                <a:gd name="connsiteY8" fmla="*/ 390 h 6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6" h="6582">
                  <a:moveTo>
                    <a:pt x="0" y="390"/>
                  </a:moveTo>
                  <a:cubicBezTo>
                    <a:pt x="0" y="72"/>
                    <a:pt x="783" y="0"/>
                    <a:pt x="1101" y="0"/>
                  </a:cubicBezTo>
                  <a:lnTo>
                    <a:pt x="2439" y="15"/>
                  </a:lnTo>
                  <a:cubicBezTo>
                    <a:pt x="2757" y="15"/>
                    <a:pt x="3456" y="72"/>
                    <a:pt x="3456" y="390"/>
                  </a:cubicBezTo>
                  <a:lnTo>
                    <a:pt x="3456" y="6006"/>
                  </a:lnTo>
                  <a:cubicBezTo>
                    <a:pt x="3456" y="6324"/>
                    <a:pt x="3198" y="6582"/>
                    <a:pt x="2880" y="6582"/>
                  </a:cubicBezTo>
                  <a:lnTo>
                    <a:pt x="576" y="6582"/>
                  </a:lnTo>
                  <a:cubicBezTo>
                    <a:pt x="258" y="6582"/>
                    <a:pt x="0" y="6324"/>
                    <a:pt x="0" y="6006"/>
                  </a:cubicBezTo>
                  <a:lnTo>
                    <a:pt x="0" y="390"/>
                  </a:lnTo>
                  <a:close/>
                </a:path>
              </a:pathLst>
            </a:cu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4" name="Text Box 13"/>
            <p:cNvSpPr txBox="1"/>
            <p:nvPr/>
          </p:nvSpPr>
          <p:spPr>
            <a:xfrm>
              <a:off x="1496" y="1938"/>
              <a:ext cx="344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0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Security</a:t>
              </a:r>
              <a:endParaRPr lang="en-US" sz="20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Text Box 14"/>
            <p:cNvSpPr txBox="1"/>
            <p:nvPr/>
          </p:nvSpPr>
          <p:spPr>
            <a:xfrm>
              <a:off x="1580" y="2512"/>
              <a:ext cx="3453" cy="3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JWT + Refresh Tokens (15min / 7day)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RBAC: 6 roles, 7 policies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FluentValidation on every request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HTTPS/TLS 1.3 encryption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Parameterized queries (SQL injection prevention)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Round Same Side Corner Rectangle 15"/>
            <p:cNvSpPr/>
            <p:nvPr/>
          </p:nvSpPr>
          <p:spPr>
            <a:xfrm>
              <a:off x="1573" y="1617"/>
              <a:ext cx="3459" cy="387"/>
            </a:xfrm>
            <a:prstGeom prst="round2Same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971030" y="1720215"/>
            <a:ext cx="4573791" cy="2907030"/>
            <a:chOff x="1496" y="1617"/>
            <a:chExt cx="3536" cy="4578"/>
          </a:xfrm>
        </p:grpSpPr>
        <p:sp>
          <p:nvSpPr>
            <p:cNvPr id="8" name="Freeform 7"/>
            <p:cNvSpPr/>
            <p:nvPr/>
          </p:nvSpPr>
          <p:spPr>
            <a:xfrm>
              <a:off x="1576" y="1680"/>
              <a:ext cx="3456" cy="4515"/>
            </a:xfrm>
            <a:custGeom>
              <a:avLst/>
              <a:gdLst>
                <a:gd name="connsiteX0" fmla="*/ 0 w 3456"/>
                <a:gd name="connsiteY0" fmla="*/ 390 h 6582"/>
                <a:gd name="connsiteX1" fmla="*/ 1101 w 3456"/>
                <a:gd name="connsiteY1" fmla="*/ 0 h 6582"/>
                <a:gd name="connsiteX2" fmla="*/ 2439 w 3456"/>
                <a:gd name="connsiteY2" fmla="*/ 15 h 6582"/>
                <a:gd name="connsiteX3" fmla="*/ 3456 w 3456"/>
                <a:gd name="connsiteY3" fmla="*/ 390 h 6582"/>
                <a:gd name="connsiteX4" fmla="*/ 3456 w 3456"/>
                <a:gd name="connsiteY4" fmla="*/ 6006 h 6582"/>
                <a:gd name="connsiteX5" fmla="*/ 2880 w 3456"/>
                <a:gd name="connsiteY5" fmla="*/ 6582 h 6582"/>
                <a:gd name="connsiteX6" fmla="*/ 576 w 3456"/>
                <a:gd name="connsiteY6" fmla="*/ 6582 h 6582"/>
                <a:gd name="connsiteX7" fmla="*/ 0 w 3456"/>
                <a:gd name="connsiteY7" fmla="*/ 6006 h 6582"/>
                <a:gd name="connsiteX8" fmla="*/ 0 w 3456"/>
                <a:gd name="connsiteY8" fmla="*/ 390 h 6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6" h="6582">
                  <a:moveTo>
                    <a:pt x="0" y="390"/>
                  </a:moveTo>
                  <a:cubicBezTo>
                    <a:pt x="0" y="72"/>
                    <a:pt x="783" y="0"/>
                    <a:pt x="1101" y="0"/>
                  </a:cubicBezTo>
                  <a:lnTo>
                    <a:pt x="2439" y="15"/>
                  </a:lnTo>
                  <a:cubicBezTo>
                    <a:pt x="2757" y="15"/>
                    <a:pt x="3456" y="72"/>
                    <a:pt x="3456" y="390"/>
                  </a:cubicBezTo>
                  <a:lnTo>
                    <a:pt x="3456" y="6006"/>
                  </a:lnTo>
                  <a:cubicBezTo>
                    <a:pt x="3456" y="6324"/>
                    <a:pt x="3198" y="6582"/>
                    <a:pt x="2880" y="6582"/>
                  </a:cubicBezTo>
                  <a:lnTo>
                    <a:pt x="576" y="6582"/>
                  </a:lnTo>
                  <a:cubicBezTo>
                    <a:pt x="258" y="6582"/>
                    <a:pt x="0" y="6324"/>
                    <a:pt x="0" y="6006"/>
                  </a:cubicBezTo>
                  <a:lnTo>
                    <a:pt x="0" y="390"/>
                  </a:lnTo>
                  <a:close/>
                </a:path>
              </a:pathLst>
            </a:cu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9" name="Text Box 8"/>
            <p:cNvSpPr txBox="1"/>
            <p:nvPr/>
          </p:nvSpPr>
          <p:spPr>
            <a:xfrm>
              <a:off x="1496" y="1938"/>
              <a:ext cx="344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0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Performance</a:t>
              </a:r>
              <a:endParaRPr lang="en-US" sz="20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" name="Text Box 9"/>
            <p:cNvSpPr txBox="1"/>
            <p:nvPr/>
          </p:nvSpPr>
          <p:spPr>
            <a:xfrm>
              <a:off x="1671" y="2617"/>
              <a:ext cx="3137" cy="2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API response: &lt; 200ms (p95)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WebSocket delivery: &lt; 500ms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Angular lazy loading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EF Core query optimization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CDN for images (Cloudinary)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Round Same Side Corner Rectangle 16"/>
            <p:cNvSpPr/>
            <p:nvPr/>
          </p:nvSpPr>
          <p:spPr>
            <a:xfrm>
              <a:off x="1573" y="1617"/>
              <a:ext cx="3459" cy="387"/>
            </a:xfrm>
            <a:prstGeom prst="round2Same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974748" y="3857625"/>
            <a:ext cx="4537573" cy="2907030"/>
            <a:chOff x="1524" y="1617"/>
            <a:chExt cx="3508" cy="4578"/>
          </a:xfrm>
        </p:grpSpPr>
        <p:sp>
          <p:nvSpPr>
            <p:cNvPr id="19" name="Freeform 18"/>
            <p:cNvSpPr/>
            <p:nvPr/>
          </p:nvSpPr>
          <p:spPr>
            <a:xfrm>
              <a:off x="1576" y="1680"/>
              <a:ext cx="3456" cy="4515"/>
            </a:xfrm>
            <a:custGeom>
              <a:avLst/>
              <a:gdLst>
                <a:gd name="connsiteX0" fmla="*/ 0 w 3456"/>
                <a:gd name="connsiteY0" fmla="*/ 390 h 6582"/>
                <a:gd name="connsiteX1" fmla="*/ 1101 w 3456"/>
                <a:gd name="connsiteY1" fmla="*/ 0 h 6582"/>
                <a:gd name="connsiteX2" fmla="*/ 2439 w 3456"/>
                <a:gd name="connsiteY2" fmla="*/ 15 h 6582"/>
                <a:gd name="connsiteX3" fmla="*/ 3456 w 3456"/>
                <a:gd name="connsiteY3" fmla="*/ 390 h 6582"/>
                <a:gd name="connsiteX4" fmla="*/ 3456 w 3456"/>
                <a:gd name="connsiteY4" fmla="*/ 6006 h 6582"/>
                <a:gd name="connsiteX5" fmla="*/ 2880 w 3456"/>
                <a:gd name="connsiteY5" fmla="*/ 6582 h 6582"/>
                <a:gd name="connsiteX6" fmla="*/ 576 w 3456"/>
                <a:gd name="connsiteY6" fmla="*/ 6582 h 6582"/>
                <a:gd name="connsiteX7" fmla="*/ 0 w 3456"/>
                <a:gd name="connsiteY7" fmla="*/ 6006 h 6582"/>
                <a:gd name="connsiteX8" fmla="*/ 0 w 3456"/>
                <a:gd name="connsiteY8" fmla="*/ 390 h 6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6" h="6582">
                  <a:moveTo>
                    <a:pt x="0" y="390"/>
                  </a:moveTo>
                  <a:cubicBezTo>
                    <a:pt x="0" y="72"/>
                    <a:pt x="783" y="0"/>
                    <a:pt x="1101" y="0"/>
                  </a:cubicBezTo>
                  <a:lnTo>
                    <a:pt x="2439" y="15"/>
                  </a:lnTo>
                  <a:cubicBezTo>
                    <a:pt x="2757" y="15"/>
                    <a:pt x="3456" y="72"/>
                    <a:pt x="3456" y="390"/>
                  </a:cubicBezTo>
                  <a:lnTo>
                    <a:pt x="3456" y="6006"/>
                  </a:lnTo>
                  <a:cubicBezTo>
                    <a:pt x="3456" y="6324"/>
                    <a:pt x="3198" y="6582"/>
                    <a:pt x="2880" y="6582"/>
                  </a:cubicBezTo>
                  <a:lnTo>
                    <a:pt x="576" y="6582"/>
                  </a:lnTo>
                  <a:cubicBezTo>
                    <a:pt x="258" y="6582"/>
                    <a:pt x="0" y="6324"/>
                    <a:pt x="0" y="6006"/>
                  </a:cubicBezTo>
                  <a:lnTo>
                    <a:pt x="0" y="390"/>
                  </a:lnTo>
                  <a:close/>
                </a:path>
              </a:pathLst>
            </a:cu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" name="Text Box 19"/>
            <p:cNvSpPr txBox="1"/>
            <p:nvPr/>
          </p:nvSpPr>
          <p:spPr>
            <a:xfrm>
              <a:off x="1524" y="1938"/>
              <a:ext cx="344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0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Scalability</a:t>
              </a:r>
              <a:endParaRPr lang="en-US" sz="20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 Box 20"/>
            <p:cNvSpPr txBox="1"/>
            <p:nvPr/>
          </p:nvSpPr>
          <p:spPr>
            <a:xfrm>
              <a:off x="1580" y="2632"/>
              <a:ext cx="3452" cy="2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Clean Architecture (4 layers)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CQRS pattern (read/write separation)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Connection pooling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Background services for batch jobs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0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Modular monolith (microservice-ready)</a:t>
              </a:r>
              <a:endParaRPr lang="en-US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Round Same Side Corner Rectangle 21"/>
            <p:cNvSpPr/>
            <p:nvPr/>
          </p:nvSpPr>
          <p:spPr>
            <a:xfrm>
              <a:off x="1573" y="1617"/>
              <a:ext cx="3459" cy="387"/>
            </a:xfrm>
            <a:prstGeom prst="round2Same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325" y="2073910"/>
            <a:ext cx="12252325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Localization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22885" y="158750"/>
            <a:ext cx="4525010" cy="501650"/>
          </a:xfrm>
        </p:spPr>
        <p:txBody>
          <a:bodyPr>
            <a:noAutofit/>
          </a:bodyPr>
          <a:p>
            <a:r>
              <a:rPr lang="en-US" altLang="ug-CN" sz="2400" b="1" dirty="0">
                <a:solidFill>
                  <a:schemeClr val="accent1"/>
                </a:solidFill>
              </a:rPr>
              <a:t>Non-Functional Requirements</a:t>
            </a:r>
            <a:endParaRPr lang="en-US" altLang="ug-CN" sz="2400" b="1" dirty="0">
              <a:solidFill>
                <a:schemeClr val="accent1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81480" y="817245"/>
            <a:ext cx="5259427" cy="4407535"/>
            <a:chOff x="1517" y="1617"/>
            <a:chExt cx="3569" cy="5416"/>
          </a:xfrm>
        </p:grpSpPr>
        <p:sp>
          <p:nvSpPr>
            <p:cNvPr id="19" name="Freeform 18"/>
            <p:cNvSpPr/>
            <p:nvPr/>
          </p:nvSpPr>
          <p:spPr>
            <a:xfrm>
              <a:off x="1576" y="1680"/>
              <a:ext cx="3456" cy="5353"/>
            </a:xfrm>
            <a:custGeom>
              <a:avLst/>
              <a:gdLst>
                <a:gd name="connsiteX0" fmla="*/ 0 w 3456"/>
                <a:gd name="connsiteY0" fmla="*/ 390 h 6582"/>
                <a:gd name="connsiteX1" fmla="*/ 1101 w 3456"/>
                <a:gd name="connsiteY1" fmla="*/ 0 h 6582"/>
                <a:gd name="connsiteX2" fmla="*/ 2439 w 3456"/>
                <a:gd name="connsiteY2" fmla="*/ 15 h 6582"/>
                <a:gd name="connsiteX3" fmla="*/ 3456 w 3456"/>
                <a:gd name="connsiteY3" fmla="*/ 390 h 6582"/>
                <a:gd name="connsiteX4" fmla="*/ 3456 w 3456"/>
                <a:gd name="connsiteY4" fmla="*/ 6006 h 6582"/>
                <a:gd name="connsiteX5" fmla="*/ 2880 w 3456"/>
                <a:gd name="connsiteY5" fmla="*/ 6582 h 6582"/>
                <a:gd name="connsiteX6" fmla="*/ 576 w 3456"/>
                <a:gd name="connsiteY6" fmla="*/ 6582 h 6582"/>
                <a:gd name="connsiteX7" fmla="*/ 0 w 3456"/>
                <a:gd name="connsiteY7" fmla="*/ 6006 h 6582"/>
                <a:gd name="connsiteX8" fmla="*/ 0 w 3456"/>
                <a:gd name="connsiteY8" fmla="*/ 390 h 6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6" h="6582">
                  <a:moveTo>
                    <a:pt x="0" y="390"/>
                  </a:moveTo>
                  <a:cubicBezTo>
                    <a:pt x="0" y="72"/>
                    <a:pt x="783" y="0"/>
                    <a:pt x="1101" y="0"/>
                  </a:cubicBezTo>
                  <a:lnTo>
                    <a:pt x="2439" y="15"/>
                  </a:lnTo>
                  <a:cubicBezTo>
                    <a:pt x="2757" y="15"/>
                    <a:pt x="3456" y="72"/>
                    <a:pt x="3456" y="390"/>
                  </a:cubicBezTo>
                  <a:lnTo>
                    <a:pt x="3456" y="6006"/>
                  </a:lnTo>
                  <a:cubicBezTo>
                    <a:pt x="3456" y="6324"/>
                    <a:pt x="3198" y="6582"/>
                    <a:pt x="2880" y="6582"/>
                  </a:cubicBezTo>
                  <a:lnTo>
                    <a:pt x="576" y="6582"/>
                  </a:lnTo>
                  <a:cubicBezTo>
                    <a:pt x="258" y="6582"/>
                    <a:pt x="0" y="6324"/>
                    <a:pt x="0" y="6006"/>
                  </a:cubicBezTo>
                  <a:lnTo>
                    <a:pt x="0" y="390"/>
                  </a:lnTo>
                  <a:close/>
                </a:path>
              </a:pathLst>
            </a:cu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1" name="Text Box 20"/>
            <p:cNvSpPr txBox="1"/>
            <p:nvPr/>
          </p:nvSpPr>
          <p:spPr>
            <a:xfrm>
              <a:off x="1580" y="2500"/>
              <a:ext cx="3506" cy="4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>
                <a:lnSpc>
                  <a:spcPct val="15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21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Primary: English (sports tourism — Dahab, Red Sea, Sinai)</a:t>
              </a:r>
              <a:endParaRPr lang="en-US" sz="2100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5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21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Secondary: Arabic (local Egyptian users)</a:t>
              </a:r>
              <a:endParaRPr lang="en-US" sz="2100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5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21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Architecture: Full i18n support built in</a:t>
              </a:r>
              <a:endParaRPr lang="en-US" sz="2100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5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21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RTL layout support ready</a:t>
              </a:r>
              <a:endParaRPr lang="en-US" sz="2100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Round Same Side Corner Rectangle 21"/>
            <p:cNvSpPr/>
            <p:nvPr/>
          </p:nvSpPr>
          <p:spPr>
            <a:xfrm>
              <a:off x="1573" y="1617"/>
              <a:ext cx="3459" cy="716"/>
            </a:xfrm>
            <a:prstGeom prst="round2Same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0" name="Text Box 19"/>
            <p:cNvSpPr txBox="1"/>
            <p:nvPr/>
          </p:nvSpPr>
          <p:spPr>
            <a:xfrm>
              <a:off x="1517" y="1683"/>
              <a:ext cx="3445" cy="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4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Language Strategy</a:t>
              </a:r>
              <a:endParaRPr lang="en-US" sz="24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146800" y="1204595"/>
            <a:ext cx="5249112" cy="4407535"/>
            <a:chOff x="1524" y="1617"/>
            <a:chExt cx="3562" cy="5416"/>
          </a:xfrm>
        </p:grpSpPr>
        <p:sp>
          <p:nvSpPr>
            <p:cNvPr id="10" name="Freeform 9"/>
            <p:cNvSpPr/>
            <p:nvPr/>
          </p:nvSpPr>
          <p:spPr>
            <a:xfrm>
              <a:off x="1576" y="1680"/>
              <a:ext cx="3456" cy="5353"/>
            </a:xfrm>
            <a:custGeom>
              <a:avLst/>
              <a:gdLst>
                <a:gd name="connsiteX0" fmla="*/ 0 w 3456"/>
                <a:gd name="connsiteY0" fmla="*/ 390 h 6582"/>
                <a:gd name="connsiteX1" fmla="*/ 1101 w 3456"/>
                <a:gd name="connsiteY1" fmla="*/ 0 h 6582"/>
                <a:gd name="connsiteX2" fmla="*/ 2439 w 3456"/>
                <a:gd name="connsiteY2" fmla="*/ 15 h 6582"/>
                <a:gd name="connsiteX3" fmla="*/ 3456 w 3456"/>
                <a:gd name="connsiteY3" fmla="*/ 390 h 6582"/>
                <a:gd name="connsiteX4" fmla="*/ 3456 w 3456"/>
                <a:gd name="connsiteY4" fmla="*/ 6006 h 6582"/>
                <a:gd name="connsiteX5" fmla="*/ 2880 w 3456"/>
                <a:gd name="connsiteY5" fmla="*/ 6582 h 6582"/>
                <a:gd name="connsiteX6" fmla="*/ 576 w 3456"/>
                <a:gd name="connsiteY6" fmla="*/ 6582 h 6582"/>
                <a:gd name="connsiteX7" fmla="*/ 0 w 3456"/>
                <a:gd name="connsiteY7" fmla="*/ 6006 h 6582"/>
                <a:gd name="connsiteX8" fmla="*/ 0 w 3456"/>
                <a:gd name="connsiteY8" fmla="*/ 390 h 6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56" h="6582">
                  <a:moveTo>
                    <a:pt x="0" y="390"/>
                  </a:moveTo>
                  <a:cubicBezTo>
                    <a:pt x="0" y="72"/>
                    <a:pt x="783" y="0"/>
                    <a:pt x="1101" y="0"/>
                  </a:cubicBezTo>
                  <a:lnTo>
                    <a:pt x="2439" y="15"/>
                  </a:lnTo>
                  <a:cubicBezTo>
                    <a:pt x="2757" y="15"/>
                    <a:pt x="3456" y="72"/>
                    <a:pt x="3456" y="390"/>
                  </a:cubicBezTo>
                  <a:lnTo>
                    <a:pt x="3456" y="6006"/>
                  </a:lnTo>
                  <a:cubicBezTo>
                    <a:pt x="3456" y="6324"/>
                    <a:pt x="3198" y="6582"/>
                    <a:pt x="2880" y="6582"/>
                  </a:cubicBezTo>
                  <a:lnTo>
                    <a:pt x="576" y="6582"/>
                  </a:lnTo>
                  <a:cubicBezTo>
                    <a:pt x="258" y="6582"/>
                    <a:pt x="0" y="6324"/>
                    <a:pt x="0" y="6006"/>
                  </a:cubicBezTo>
                  <a:lnTo>
                    <a:pt x="0" y="390"/>
                  </a:lnTo>
                  <a:close/>
                </a:path>
              </a:pathLst>
            </a:cu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1580" y="2500"/>
              <a:ext cx="3506" cy="4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 algn="l">
                <a:lnSpc>
                  <a:spcPct val="15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21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Primary storage: EGP (Egyptian Pound)</a:t>
              </a:r>
              <a:endParaRPr lang="en-US" sz="2100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5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21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Tourist display: USD/EUR conversion at checkout</a:t>
              </a:r>
              <a:endParaRPr lang="en-US" sz="2100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5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21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Payment gateway: Paymob (international cards)</a:t>
              </a:r>
              <a:endParaRPr lang="en-US" sz="2100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285750" indent="-285750" algn="l">
                <a:lnSpc>
                  <a:spcPct val="150000"/>
                </a:lnSpc>
                <a:spcBef>
                  <a:spcPts val="4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2100">
                  <a:solidFill>
                    <a:srgbClr val="E6F2F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Owner always paid in EGP</a:t>
              </a:r>
              <a:endParaRPr lang="en-US" sz="2100">
                <a:solidFill>
                  <a:srgbClr val="E6F2F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Round Same Side Corner Rectangle 13"/>
            <p:cNvSpPr/>
            <p:nvPr/>
          </p:nvSpPr>
          <p:spPr>
            <a:xfrm>
              <a:off x="1573" y="1617"/>
              <a:ext cx="3459" cy="730"/>
            </a:xfrm>
            <a:prstGeom prst="round2SameRect">
              <a:avLst/>
            </a:prstGeom>
            <a:solidFill>
              <a:srgbClr val="F5B44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" name="Text Box 11"/>
            <p:cNvSpPr txBox="1"/>
            <p:nvPr/>
          </p:nvSpPr>
          <p:spPr>
            <a:xfrm>
              <a:off x="1524" y="1686"/>
              <a:ext cx="3508" cy="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400" b="1" i="1" u="sng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Currency Strategy</a:t>
              </a:r>
              <a:endParaRPr lang="en-US" sz="2400" b="1" i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61365" y="5958205"/>
            <a:ext cx="10227310" cy="751205"/>
            <a:chOff x="1105" y="9367"/>
            <a:chExt cx="16356" cy="1183"/>
          </a:xfrm>
        </p:grpSpPr>
        <p:sp>
          <p:nvSpPr>
            <p:cNvPr id="16" name="Rounded Rectangle 15"/>
            <p:cNvSpPr/>
            <p:nvPr/>
          </p:nvSpPr>
          <p:spPr>
            <a:xfrm>
              <a:off x="1105" y="9367"/>
              <a:ext cx="16356" cy="1183"/>
            </a:xfrm>
            <a:prstGeom prst="roundRect">
              <a:avLst/>
            </a:prstGeom>
            <a:solidFill>
              <a:srgbClr val="0A9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7" name="Text Box 16"/>
            <p:cNvSpPr txBox="1"/>
            <p:nvPr/>
          </p:nvSpPr>
          <p:spPr>
            <a:xfrm>
              <a:off x="1348" y="9628"/>
              <a:ext cx="16015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sz="2400" b="1" i="1">
                  <a:solidFill>
                    <a:srgbClr val="F5B446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Example: Climbing rope 200 EGP/day --&gt; Tourist sees ~$4 USD/day</a:t>
              </a:r>
              <a:endParaRPr lang="en-US" sz="2400" b="1" i="1">
                <a:solidFill>
                  <a:srgbClr val="F5B4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325" y="2073910"/>
            <a:ext cx="12252325" cy="1320800"/>
          </a:xfrm>
        </p:spPr>
        <p:txBody>
          <a:bodyPr>
            <a:normAutofit/>
          </a:bodyPr>
          <a:p>
            <a:pPr algn="ctr"/>
            <a:r>
              <a:rPr lang="en-US" sz="8000" i="1" u="sng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Semester 2 Timeline</a:t>
            </a:r>
            <a:endParaRPr lang="en-US" sz="8000" i="1" u="sng">
              <a:ln w="22225">
                <a:solidFill>
                  <a:schemeClr val="accent2"/>
                </a:solidFill>
                <a:prstDash val="solid"/>
              </a:ln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tGPT Image Jun 15, 2026, 03_13_07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 dirty="0"/>
              <a:t>Thank you</a:t>
            </a:r>
            <a:endParaRPr lang="en-US" sz="3600" dirty="0"/>
          </a:p>
        </p:txBody>
      </p:sp>
      <p:graphicFrame>
        <p:nvGraphicFramePr>
          <p:cNvPr id="43" name="Content Placeholder 2"/>
          <p:cNvGraphicFramePr>
            <a:graphicFrameLocks noGrp="1"/>
          </p:cNvGraphicFramePr>
          <p:nvPr>
            <p:ph idx="1"/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graphicEl>
                                              <a:dgm id="{A4CD7551-B0E4-43A6-A8A5-1419A62F99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3">
                                            <p:graphicEl>
                                              <a:dgm id="{A4CD7551-B0E4-43A6-A8A5-1419A62F99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graphicEl>
                                              <a:dgm id="{5302F716-2644-429A-8810-19A9F7E334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3">
                                            <p:graphicEl>
                                              <a:dgm id="{5302F716-2644-429A-8810-19A9F7E334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graphicEl>
                                              <a:dgm id="{7B6FA286-4A8D-4C73-B60F-8F2A83979D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3">
                                            <p:graphicEl>
                                              <a:dgm id="{7B6FA286-4A8D-4C73-B60F-8F2A83979D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graphicEl>
                                              <a:dgm id="{40403CC3-41E4-4155-AAF2-599BD7E22D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3">
                                            <p:graphicEl>
                                              <a:dgm id="{40403CC3-41E4-4155-AAF2-599BD7E22D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3" grpId="0">
        <p:bldSub>
          <a:bldDgm/>
        </p:bldSub>
      </p:bldGraphic>
      <p:bldP spid="2" grpId="1"/>
      <p:bldGraphic spid="43" grpId="1">
        <p:bldSub>
          <a:bldDgm/>
        </p:bldSub>
      </p:bldGraphic>
    </p:bldLst>
  </p:timing>
</p:sld>
</file>

<file path=ppt/theme/theme1.xml><?xml version="1.0" encoding="utf-8"?>
<a:theme xmlns:a="http://schemas.openxmlformats.org/drawingml/2006/main" name="Facet">
  <a:themeElements>
    <a:clrScheme name="Custom 1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00BEAA"/>
      </a:accent1>
      <a:accent2>
        <a:srgbClr val="007C6F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BEAA"/>
      </a:hlink>
      <a:folHlink>
        <a:srgbClr val="73FFF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7090</Words>
  <Application>WPS Presentation</Application>
  <PresentationFormat>Widescreen</PresentationFormat>
  <Paragraphs>520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73" baseType="lpstr">
      <vt:lpstr>Arial</vt:lpstr>
      <vt:lpstr>SimSun</vt:lpstr>
      <vt:lpstr>Wingdings</vt:lpstr>
      <vt:lpstr>Wingdings 3</vt:lpstr>
      <vt:lpstr>Webdings</vt:lpstr>
      <vt:lpstr>Arial</vt:lpstr>
      <vt:lpstr>Trebuchet MS</vt:lpstr>
      <vt:lpstr>Microsoft YaHei</vt:lpstr>
      <vt:lpstr>Droid Sans Fallback</vt:lpstr>
      <vt:lpstr>Arial Unicode MS</vt:lpstr>
      <vt:lpstr>Aptos</vt:lpstr>
      <vt:lpstr>Quicksand Light</vt:lpstr>
      <vt:lpstr>MS Gothic</vt:lpstr>
      <vt:lpstr>Times New Roman</vt:lpstr>
      <vt:lpstr>MS Mincho</vt:lpstr>
      <vt:lpstr>Courier New</vt:lpstr>
      <vt:lpstr>Cambria Math</vt:lpstr>
      <vt:lpstr>DejaVu Math TeX Gyre</vt:lpstr>
      <vt:lpstr>MS Mincho</vt:lpstr>
      <vt:lpstr>OpenSymbol</vt:lpstr>
      <vt:lpstr>Microsoft Uighur</vt:lpstr>
      <vt:lpstr>Facet</vt:lpstr>
      <vt:lpstr>Renty Intelligent P2P Rental Platform </vt:lpstr>
      <vt:lpstr>Agenda</vt:lpstr>
      <vt:lpstr>Problem Statement</vt:lpstr>
      <vt:lpstr>Problem Statement</vt:lpstr>
      <vt:lpstr>Market Focus</vt:lpstr>
      <vt:lpstr>MARKET FOCUS</vt:lpstr>
      <vt:lpstr>Business Model</vt:lpstr>
      <vt:lpstr>Business Model</vt:lpstr>
      <vt:lpstr>Platform Features</vt:lpstr>
      <vt:lpstr>Platform Features</vt:lpstr>
      <vt:lpstr>How it works</vt:lpstr>
      <vt:lpstr>How it works</vt:lpstr>
      <vt:lpstr>How it works</vt:lpstr>
      <vt:lpstr>System Architecture</vt:lpstr>
      <vt:lpstr>System Architecture</vt:lpstr>
      <vt:lpstr>Tech Stack</vt:lpstr>
      <vt:lpstr>Tech Stack</vt:lpstr>
      <vt:lpstr>Database Design</vt:lpstr>
      <vt:lpstr>Database Design</vt:lpstr>
      <vt:lpstr>Database Design</vt:lpstr>
      <vt:lpstr>Semester 1 Recap</vt:lpstr>
      <vt:lpstr>Semester 1 Recap</vt:lpstr>
      <vt:lpstr>Recommendation  System</vt:lpstr>
      <vt:lpstr>Recommendation System</vt:lpstr>
      <vt:lpstr>Fraud Detection</vt:lpstr>
      <vt:lpstr>Fraud Detection</vt:lpstr>
      <vt:lpstr>Gap Analysis</vt:lpstr>
      <vt:lpstr>Gap Analysis</vt:lpstr>
      <vt:lpstr>Semester 1 Timeline</vt:lpstr>
      <vt:lpstr>Semester 1 Timeline</vt:lpstr>
      <vt:lpstr>Semester 1 Timeline</vt:lpstr>
      <vt:lpstr>Semester 1 Timeline</vt:lpstr>
      <vt:lpstr>Rental Lifecycle</vt:lpstr>
      <vt:lpstr>Rental Lifecycle</vt:lpstr>
      <vt:lpstr>Payment &amp; Escrow</vt:lpstr>
      <vt:lpstr>Payment &amp; Escrow</vt:lpstr>
      <vt:lpstr>Real Time  Communication</vt:lpstr>
      <vt:lpstr>Real Time Communication</vt:lpstr>
      <vt:lpstr>Addressing Feedback</vt:lpstr>
      <vt:lpstr>Addressing Feedback What Dr. Khamis Said --&gt; What We Did</vt:lpstr>
      <vt:lpstr>Trust Architecture</vt:lpstr>
      <vt:lpstr>Trust Architecture</vt:lpstr>
      <vt:lpstr>Expert Hubs</vt:lpstr>
      <vt:lpstr>Expert Hubs</vt:lpstr>
      <vt:lpstr>Smart Recommendations</vt:lpstr>
      <vt:lpstr>Smart Recommendations</vt:lpstr>
      <vt:lpstr>Non-Functional Requirements</vt:lpstr>
      <vt:lpstr>Non-Functional Requirements</vt:lpstr>
      <vt:lpstr>Localization</vt:lpstr>
      <vt:lpstr>Challenges in Fraud Detection Systems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Renty Intelligent P2P Rental Platform </dc:title>
  <dc:creator>Yasser Ashraf</dc:creator>
  <cp:lastModifiedBy>hamza</cp:lastModifiedBy>
  <cp:revision>81</cp:revision>
  <dcterms:created xsi:type="dcterms:W3CDTF">2026-06-15T00:16:43Z</dcterms:created>
  <dcterms:modified xsi:type="dcterms:W3CDTF">2026-06-15T00:16:43Z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4C113BC743A1489AAAE96C166172C92E_13</vt:lpwstr>
  </property>
  <property fmtid="{D5CDD505-2E9C-101B-9397-08002B2CF9AE}" pid="3" name="KSOProductBuildVer">
    <vt:lpwstr>1033-11.1.0.11723</vt:lpwstr>
  </property>
</Properties>
</file>